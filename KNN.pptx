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2"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4" d="100"/>
          <a:sy n="114" d="100"/>
        </p:scale>
        <p:origin x="43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0B7AF53-4B56-4D86-8AB0-618A01DD34F6}" type="datetimeFigureOut">
              <a:rPr lang="en-US" smtClean="0"/>
              <a:t>4/12/2021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5D6C63-741A-4872-A048-7A0C6DBB7DDD}" type="slidenum">
              <a:rPr lang="en-US" smtClean="0"/>
              <a:t>‹#›</a:t>
            </a:fld>
            <a:endParaRPr lang="en-US"/>
          </a:p>
        </p:txBody>
      </p:sp>
    </p:spTree>
    <p:extLst>
      <p:ext uri="{BB962C8B-B14F-4D97-AF65-F5344CB8AC3E}">
        <p14:creationId xmlns:p14="http://schemas.microsoft.com/office/powerpoint/2010/main" val="1364657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B7AF53-4B56-4D86-8AB0-618A01DD34F6}" type="datetimeFigureOut">
              <a:rPr lang="en-US" smtClean="0"/>
              <a:t>4/12/2021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5D6C63-741A-4872-A048-7A0C6DBB7DDD}" type="slidenum">
              <a:rPr lang="en-US" smtClean="0"/>
              <a:t>‹#›</a:t>
            </a:fld>
            <a:endParaRPr lang="en-US"/>
          </a:p>
        </p:txBody>
      </p:sp>
    </p:spTree>
    <p:extLst>
      <p:ext uri="{BB962C8B-B14F-4D97-AF65-F5344CB8AC3E}">
        <p14:creationId xmlns:p14="http://schemas.microsoft.com/office/powerpoint/2010/main" val="1202128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0B7AF53-4B56-4D86-8AB0-618A01DD34F6}" type="datetimeFigureOut">
              <a:rPr lang="en-US" smtClean="0"/>
              <a:t>4/12/2021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5D6C63-741A-4872-A048-7A0C6DBB7DDD}" type="slidenum">
              <a:rPr lang="en-US" smtClean="0"/>
              <a:t>‹#›</a:t>
            </a:fld>
            <a:endParaRPr lang="en-US"/>
          </a:p>
        </p:txBody>
      </p:sp>
    </p:spTree>
    <p:extLst>
      <p:ext uri="{BB962C8B-B14F-4D97-AF65-F5344CB8AC3E}">
        <p14:creationId xmlns:p14="http://schemas.microsoft.com/office/powerpoint/2010/main" val="1499677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0B7AF53-4B56-4D86-8AB0-618A01DD34F6}" type="datetimeFigureOut">
              <a:rPr lang="en-US" smtClean="0"/>
              <a:t>4/12/2021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5D6C63-741A-4872-A048-7A0C6DBB7DDD}" type="slidenum">
              <a:rPr lang="en-US" smtClean="0"/>
              <a:t>‹#›</a:t>
            </a:fld>
            <a:endParaRPr lang="en-US"/>
          </a:p>
        </p:txBody>
      </p:sp>
    </p:spTree>
    <p:extLst>
      <p:ext uri="{BB962C8B-B14F-4D97-AF65-F5344CB8AC3E}">
        <p14:creationId xmlns:p14="http://schemas.microsoft.com/office/powerpoint/2010/main" val="3601082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0B7AF53-4B56-4D86-8AB0-618A01DD34F6}" type="datetimeFigureOut">
              <a:rPr lang="en-US" smtClean="0"/>
              <a:t>4/12/2021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5D6C63-741A-4872-A048-7A0C6DBB7DDD}" type="slidenum">
              <a:rPr lang="en-US" smtClean="0"/>
              <a:t>‹#›</a:t>
            </a:fld>
            <a:endParaRPr lang="en-US"/>
          </a:p>
        </p:txBody>
      </p:sp>
    </p:spTree>
    <p:extLst>
      <p:ext uri="{BB962C8B-B14F-4D97-AF65-F5344CB8AC3E}">
        <p14:creationId xmlns:p14="http://schemas.microsoft.com/office/powerpoint/2010/main" val="2022440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0B7AF53-4B56-4D86-8AB0-618A01DD34F6}" type="datetimeFigureOut">
              <a:rPr lang="en-US" smtClean="0"/>
              <a:t>4/12/2021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5D6C63-741A-4872-A048-7A0C6DBB7DDD}" type="slidenum">
              <a:rPr lang="en-US" smtClean="0"/>
              <a:t>‹#›</a:t>
            </a:fld>
            <a:endParaRPr lang="en-US"/>
          </a:p>
        </p:txBody>
      </p:sp>
    </p:spTree>
    <p:extLst>
      <p:ext uri="{BB962C8B-B14F-4D97-AF65-F5344CB8AC3E}">
        <p14:creationId xmlns:p14="http://schemas.microsoft.com/office/powerpoint/2010/main" val="2307366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B7AF53-4B56-4D86-8AB0-618A01DD34F6}" type="datetimeFigureOut">
              <a:rPr lang="en-US" smtClean="0"/>
              <a:t>4/12/2021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5D6C63-741A-4872-A048-7A0C6DBB7DDD}" type="slidenum">
              <a:rPr lang="en-US" smtClean="0"/>
              <a:t>‹#›</a:t>
            </a:fld>
            <a:endParaRPr lang="en-US"/>
          </a:p>
        </p:txBody>
      </p:sp>
    </p:spTree>
    <p:extLst>
      <p:ext uri="{BB962C8B-B14F-4D97-AF65-F5344CB8AC3E}">
        <p14:creationId xmlns:p14="http://schemas.microsoft.com/office/powerpoint/2010/main" val="2387379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0B7AF53-4B56-4D86-8AB0-618A01DD34F6}" type="datetimeFigureOut">
              <a:rPr lang="en-US" smtClean="0"/>
              <a:t>4/12/2021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5D6C63-741A-4872-A048-7A0C6DBB7DDD}" type="slidenum">
              <a:rPr lang="en-US" smtClean="0"/>
              <a:t>‹#›</a:t>
            </a:fld>
            <a:endParaRPr lang="en-US"/>
          </a:p>
        </p:txBody>
      </p:sp>
    </p:spTree>
    <p:extLst>
      <p:ext uri="{BB962C8B-B14F-4D97-AF65-F5344CB8AC3E}">
        <p14:creationId xmlns:p14="http://schemas.microsoft.com/office/powerpoint/2010/main" val="3549438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0B7AF53-4B56-4D86-8AB0-618A01DD34F6}" type="datetimeFigureOut">
              <a:rPr lang="en-US" smtClean="0"/>
              <a:t>4/12/2021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5D6C63-741A-4872-A048-7A0C6DBB7DDD}" type="slidenum">
              <a:rPr lang="en-US" smtClean="0"/>
              <a:t>‹#›</a:t>
            </a:fld>
            <a:endParaRPr lang="en-US"/>
          </a:p>
        </p:txBody>
      </p:sp>
    </p:spTree>
    <p:extLst>
      <p:ext uri="{BB962C8B-B14F-4D97-AF65-F5344CB8AC3E}">
        <p14:creationId xmlns:p14="http://schemas.microsoft.com/office/powerpoint/2010/main" val="603395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B7AF53-4B56-4D86-8AB0-618A01DD34F6}" type="datetimeFigureOut">
              <a:rPr lang="en-US" smtClean="0"/>
              <a:t>4/12/2021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5D6C63-741A-4872-A048-7A0C6DBB7DDD}" type="slidenum">
              <a:rPr lang="en-US" smtClean="0"/>
              <a:t>‹#›</a:t>
            </a:fld>
            <a:endParaRPr lang="en-US"/>
          </a:p>
        </p:txBody>
      </p:sp>
    </p:spTree>
    <p:extLst>
      <p:ext uri="{BB962C8B-B14F-4D97-AF65-F5344CB8AC3E}">
        <p14:creationId xmlns:p14="http://schemas.microsoft.com/office/powerpoint/2010/main" val="3376047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B7AF53-4B56-4D86-8AB0-618A01DD34F6}" type="datetimeFigureOut">
              <a:rPr lang="en-US" smtClean="0"/>
              <a:t>4/12/2021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5D6C63-741A-4872-A048-7A0C6DBB7DDD}" type="slidenum">
              <a:rPr lang="en-US" smtClean="0"/>
              <a:t>‹#›</a:t>
            </a:fld>
            <a:endParaRPr lang="en-US"/>
          </a:p>
        </p:txBody>
      </p:sp>
    </p:spTree>
    <p:extLst>
      <p:ext uri="{BB962C8B-B14F-4D97-AF65-F5344CB8AC3E}">
        <p14:creationId xmlns:p14="http://schemas.microsoft.com/office/powerpoint/2010/main" val="3514802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B7AF53-4B56-4D86-8AB0-618A01DD34F6}" type="datetimeFigureOut">
              <a:rPr lang="en-US" smtClean="0"/>
              <a:t>4/12/2021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5D6C63-741A-4872-A048-7A0C6DBB7DDD}" type="slidenum">
              <a:rPr lang="en-US" smtClean="0"/>
              <a:t>‹#›</a:t>
            </a:fld>
            <a:endParaRPr lang="en-US"/>
          </a:p>
        </p:txBody>
      </p:sp>
    </p:spTree>
    <p:extLst>
      <p:ext uri="{BB962C8B-B14F-4D97-AF65-F5344CB8AC3E}">
        <p14:creationId xmlns:p14="http://schemas.microsoft.com/office/powerpoint/2010/main" val="2222276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12528" y="0"/>
            <a:ext cx="5279472" cy="1459683"/>
          </a:xfrm>
        </p:spPr>
        <p:txBody>
          <a:bodyPr>
            <a:normAutofit/>
          </a:bodyPr>
          <a:lstStyle/>
          <a:p>
            <a:r>
              <a:rPr lang="en-US" b="1" dirty="0" smtClean="0"/>
              <a:t>KNN Algorithm</a:t>
            </a:r>
            <a:endParaRPr lang="en-US" b="1" dirty="0"/>
          </a:p>
        </p:txBody>
      </p:sp>
      <p:sp>
        <p:nvSpPr>
          <p:cNvPr id="3" name="Subtitle 2"/>
          <p:cNvSpPr>
            <a:spLocks noGrp="1"/>
          </p:cNvSpPr>
          <p:nvPr>
            <p:ph type="subTitle" idx="1"/>
          </p:nvPr>
        </p:nvSpPr>
        <p:spPr>
          <a:xfrm>
            <a:off x="6912528" y="2248250"/>
            <a:ext cx="5279472" cy="4609748"/>
          </a:xfrm>
        </p:spPr>
        <p:txBody>
          <a:bodyPr/>
          <a:lstStyle/>
          <a:p>
            <a:pPr algn="l"/>
            <a:r>
              <a:rPr lang="en-US" sz="3200" b="1" dirty="0"/>
              <a:t>Table of </a:t>
            </a:r>
            <a:r>
              <a:rPr lang="en-US" sz="3200" b="1" dirty="0" smtClean="0"/>
              <a:t>Contents:</a:t>
            </a:r>
          </a:p>
          <a:p>
            <a:pPr marL="342900" indent="-342900" algn="l">
              <a:buFont typeface="Wingdings" panose="05000000000000000000" pitchFamily="2" charset="2"/>
              <a:buChar char="Ø"/>
            </a:pPr>
            <a:r>
              <a:rPr lang="en-US" sz="2000" dirty="0" smtClean="0"/>
              <a:t>Introduction.</a:t>
            </a:r>
            <a:endParaRPr lang="en-US" sz="2000" dirty="0"/>
          </a:p>
          <a:p>
            <a:pPr marL="342900" indent="-342900" algn="l">
              <a:buFont typeface="Wingdings" panose="05000000000000000000" pitchFamily="2" charset="2"/>
              <a:buChar char="Ø"/>
            </a:pPr>
            <a:r>
              <a:rPr lang="en-US" sz="2000" dirty="0"/>
              <a:t>Overview of </a:t>
            </a:r>
            <a:r>
              <a:rPr lang="en-US" sz="2000" dirty="0" smtClean="0"/>
              <a:t>KNN.</a:t>
            </a:r>
            <a:endParaRPr lang="en-US" sz="2000" dirty="0"/>
          </a:p>
          <a:p>
            <a:pPr marL="342900" indent="-342900" algn="l">
              <a:buFont typeface="Wingdings" panose="05000000000000000000" pitchFamily="2" charset="2"/>
              <a:buChar char="Ø"/>
            </a:pPr>
            <a:r>
              <a:rPr lang="en-US" sz="2000" dirty="0"/>
              <a:t>Distance </a:t>
            </a:r>
            <a:r>
              <a:rPr lang="en-US" sz="2000" dirty="0" smtClean="0"/>
              <a:t>Metrics.</a:t>
            </a:r>
          </a:p>
          <a:p>
            <a:pPr marL="342900" indent="-342900" algn="l">
              <a:buFont typeface="Wingdings" panose="05000000000000000000" pitchFamily="2" charset="2"/>
              <a:buChar char="Ø"/>
            </a:pPr>
            <a:r>
              <a:rPr lang="en-US" sz="2000" dirty="0"/>
              <a:t>How does </a:t>
            </a:r>
            <a:r>
              <a:rPr lang="en-US" sz="2000" dirty="0" smtClean="0"/>
              <a:t>KNN </a:t>
            </a:r>
            <a:r>
              <a:rPr lang="en-US" sz="2000" dirty="0"/>
              <a:t>work?</a:t>
            </a:r>
          </a:p>
          <a:p>
            <a:pPr marL="342900" indent="-342900" algn="l">
              <a:buFont typeface="Wingdings" panose="05000000000000000000" pitchFamily="2" charset="2"/>
              <a:buChar char="Ø"/>
            </a:pPr>
            <a:r>
              <a:rPr lang="en-US" sz="2000" dirty="0"/>
              <a:t>How to choose a K value?</a:t>
            </a:r>
          </a:p>
          <a:p>
            <a:pPr marL="342900" indent="-342900" algn="l">
              <a:buFont typeface="Wingdings" panose="05000000000000000000" pitchFamily="2" charset="2"/>
              <a:buChar char="Ø"/>
            </a:pPr>
            <a:r>
              <a:rPr lang="en-US" sz="2000" dirty="0"/>
              <a:t>KNN model </a:t>
            </a:r>
            <a:r>
              <a:rPr lang="en-US" sz="2000" dirty="0" smtClean="0"/>
              <a:t>implementation.</a:t>
            </a:r>
            <a:endParaRPr lang="en-US" sz="20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912528" cy="6857997"/>
          </a:xfrm>
          <a:prstGeom prst="rect">
            <a:avLst/>
          </a:prstGeom>
        </p:spPr>
      </p:pic>
    </p:spTree>
    <p:extLst>
      <p:ext uri="{BB962C8B-B14F-4D97-AF65-F5344CB8AC3E}">
        <p14:creationId xmlns:p14="http://schemas.microsoft.com/office/powerpoint/2010/main" val="4445557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5416" y="0"/>
            <a:ext cx="5346583" cy="1581121"/>
          </a:xfrm>
        </p:spPr>
        <p:txBody>
          <a:bodyPr/>
          <a:lstStyle/>
          <a:p>
            <a:pPr marL="571500" indent="-571500">
              <a:buFont typeface="Wingdings" panose="05000000000000000000" pitchFamily="2" charset="2"/>
              <a:buChar char="Ø"/>
            </a:pPr>
            <a:r>
              <a:rPr lang="en-US" b="1" dirty="0" smtClean="0"/>
              <a:t>Introduction</a:t>
            </a:r>
            <a:endParaRPr lang="en-US" b="1" dirty="0"/>
          </a:p>
        </p:txBody>
      </p:sp>
      <p:sp>
        <p:nvSpPr>
          <p:cNvPr id="3" name="Content Placeholder 2"/>
          <p:cNvSpPr>
            <a:spLocks noGrp="1"/>
          </p:cNvSpPr>
          <p:nvPr>
            <p:ph idx="1"/>
          </p:nvPr>
        </p:nvSpPr>
        <p:spPr>
          <a:xfrm>
            <a:off x="6845417" y="1581120"/>
            <a:ext cx="5346583" cy="5276879"/>
          </a:xfrm>
        </p:spPr>
        <p:txBody>
          <a:bodyPr/>
          <a:lstStyle/>
          <a:p>
            <a:pPr marL="0" indent="0" algn="just">
              <a:buNone/>
            </a:pPr>
            <a:r>
              <a:rPr lang="en-US" b="1" dirty="0" smtClean="0"/>
              <a:t>K-Nearest </a:t>
            </a:r>
            <a:r>
              <a:rPr lang="en-US" b="1" dirty="0"/>
              <a:t>Neighbors </a:t>
            </a:r>
            <a:r>
              <a:rPr lang="en-US" sz="2400" dirty="0"/>
              <a:t>is</a:t>
            </a:r>
            <a:r>
              <a:rPr lang="en-US" sz="2400" b="1" dirty="0"/>
              <a:t> </a:t>
            </a:r>
            <a:r>
              <a:rPr lang="en-US" sz="2400" dirty="0"/>
              <a:t>the supervised machine learning algorithm used for classification and regression. It manipulates the training data and classifies the new test data based on distance metrics. It finds the k-nearest neighbors to the test data, and then classification is performed by the majority of class labels.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6845416" cy="6857999"/>
          </a:xfrm>
          <a:prstGeom prst="rect">
            <a:avLst/>
          </a:prstGeom>
        </p:spPr>
      </p:pic>
    </p:spTree>
    <p:extLst>
      <p:ext uri="{BB962C8B-B14F-4D97-AF65-F5344CB8AC3E}">
        <p14:creationId xmlns:p14="http://schemas.microsoft.com/office/powerpoint/2010/main" val="12319980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5128" y="105066"/>
            <a:ext cx="9756395" cy="985503"/>
          </a:xfrm>
        </p:spPr>
        <p:txBody>
          <a:bodyPr/>
          <a:lstStyle/>
          <a:p>
            <a:pPr marL="571500" indent="-571500">
              <a:buFont typeface="Wingdings" panose="05000000000000000000" pitchFamily="2" charset="2"/>
              <a:buChar char="Ø"/>
            </a:pPr>
            <a:r>
              <a:rPr lang="en-US" b="1" dirty="0"/>
              <a:t>Overview of KNN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7406" y="1124125"/>
            <a:ext cx="9664117" cy="5733875"/>
          </a:xfrm>
        </p:spPr>
      </p:pic>
    </p:spTree>
    <p:extLst>
      <p:ext uri="{BB962C8B-B14F-4D97-AF65-F5344CB8AC3E}">
        <p14:creationId xmlns:p14="http://schemas.microsoft.com/office/powerpoint/2010/main" val="8369670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71500" indent="-571500">
              <a:buFont typeface="Wingdings" panose="05000000000000000000" pitchFamily="2" charset="2"/>
              <a:buChar char="Ø"/>
            </a:pPr>
            <a:r>
              <a:rPr lang="en-US" b="1" dirty="0"/>
              <a:t>Distance Metrics</a:t>
            </a:r>
          </a:p>
        </p:txBody>
      </p:sp>
      <p:sp>
        <p:nvSpPr>
          <p:cNvPr id="3" name="Content Placeholder 2"/>
          <p:cNvSpPr>
            <a:spLocks noGrp="1"/>
          </p:cNvSpPr>
          <p:nvPr>
            <p:ph idx="1"/>
          </p:nvPr>
        </p:nvSpPr>
        <p:spPr>
          <a:xfrm>
            <a:off x="838200" y="1825625"/>
            <a:ext cx="10515600" cy="1722918"/>
          </a:xfrm>
        </p:spPr>
        <p:txBody>
          <a:bodyPr>
            <a:normAutofit/>
          </a:bodyPr>
          <a:lstStyle/>
          <a:p>
            <a:pPr marL="0" indent="0">
              <a:buNone/>
            </a:pPr>
            <a:r>
              <a:rPr lang="en-US" sz="2400" dirty="0"/>
              <a:t>Usually, we use the Euclidean approach, which is the most widely used distance measure to calculate the distance between test samples and trained data values. We measure the distance along a straight line from point (x1, y1) to point (x2, y2).</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9" y="3548543"/>
            <a:ext cx="10515601" cy="3238151"/>
          </a:xfrm>
          <a:prstGeom prst="rect">
            <a:avLst/>
          </a:prstGeom>
        </p:spPr>
      </p:pic>
    </p:spTree>
    <p:extLst>
      <p:ext uri="{BB962C8B-B14F-4D97-AF65-F5344CB8AC3E}">
        <p14:creationId xmlns:p14="http://schemas.microsoft.com/office/powerpoint/2010/main" val="29576145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18914" y="365125"/>
            <a:ext cx="5573086" cy="1325563"/>
          </a:xfrm>
        </p:spPr>
        <p:txBody>
          <a:bodyPr>
            <a:normAutofit/>
          </a:bodyPr>
          <a:lstStyle/>
          <a:p>
            <a:pPr marL="0" indent="0"/>
            <a:r>
              <a:rPr lang="en-US" sz="3200" b="1" dirty="0" smtClean="0"/>
              <a:t>To classify an unknown record:</a:t>
            </a:r>
            <a:endParaRPr lang="en-US" sz="3200" b="1" dirty="0"/>
          </a:p>
        </p:txBody>
      </p:sp>
      <p:sp>
        <p:nvSpPr>
          <p:cNvPr id="3" name="Content Placeholder 2"/>
          <p:cNvSpPr>
            <a:spLocks noGrp="1"/>
          </p:cNvSpPr>
          <p:nvPr>
            <p:ph idx="1"/>
          </p:nvPr>
        </p:nvSpPr>
        <p:spPr>
          <a:xfrm>
            <a:off x="6618914" y="1825624"/>
            <a:ext cx="5573086" cy="5032375"/>
          </a:xfrm>
        </p:spPr>
        <p:txBody>
          <a:bodyPr/>
          <a:lstStyle/>
          <a:p>
            <a:r>
              <a:rPr lang="en-US" sz="2000" dirty="0" smtClean="0"/>
              <a:t>Initialize </a:t>
            </a:r>
            <a:r>
              <a:rPr lang="en-US" sz="2000" dirty="0"/>
              <a:t>the K value.</a:t>
            </a:r>
          </a:p>
          <a:p>
            <a:r>
              <a:rPr lang="en-US" sz="2000" dirty="0"/>
              <a:t>Calculate the distance between test input and K trained nearest neighbors.</a:t>
            </a:r>
          </a:p>
          <a:p>
            <a:r>
              <a:rPr lang="en-US" sz="2000" dirty="0"/>
              <a:t>Check class categories of nearest neighbors and determine the type in which test input falls.</a:t>
            </a:r>
          </a:p>
          <a:p>
            <a:r>
              <a:rPr lang="en-US" sz="2000" dirty="0"/>
              <a:t>Classification will be done by taking the majority of votes.</a:t>
            </a:r>
          </a:p>
          <a:p>
            <a:r>
              <a:rPr lang="en-US" sz="2000" dirty="0"/>
              <a:t>Return the class category.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618914" cy="6858000"/>
          </a:xfrm>
          <a:prstGeom prst="rect">
            <a:avLst/>
          </a:prstGeom>
        </p:spPr>
      </p:pic>
    </p:spTree>
    <p:extLst>
      <p:ext uri="{BB962C8B-B14F-4D97-AF65-F5344CB8AC3E}">
        <p14:creationId xmlns:p14="http://schemas.microsoft.com/office/powerpoint/2010/main" val="26377189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287" y="365125"/>
            <a:ext cx="11014744" cy="1325563"/>
          </a:xfrm>
        </p:spPr>
        <p:txBody>
          <a:bodyPr/>
          <a:lstStyle/>
          <a:p>
            <a:pPr marL="571500" indent="-571500">
              <a:buFont typeface="Wingdings" panose="05000000000000000000" pitchFamily="2" charset="2"/>
              <a:buChar char="Ø"/>
            </a:pPr>
            <a:r>
              <a:rPr lang="en-US" b="1" dirty="0" smtClean="0"/>
              <a:t>How does KNN work?</a:t>
            </a:r>
            <a:endParaRPr lang="en-US" b="1" dirty="0"/>
          </a:p>
        </p:txBody>
      </p:sp>
      <p:sp>
        <p:nvSpPr>
          <p:cNvPr id="3" name="Content Placeholder 2"/>
          <p:cNvSpPr>
            <a:spLocks noGrp="1"/>
          </p:cNvSpPr>
          <p:nvPr>
            <p:ph idx="1"/>
          </p:nvPr>
        </p:nvSpPr>
        <p:spPr>
          <a:xfrm>
            <a:off x="696287" y="1825624"/>
            <a:ext cx="11014744" cy="4591953"/>
          </a:xfrm>
        </p:spPr>
        <p:txBody>
          <a:bodyPr>
            <a:normAutofit fontScale="92500"/>
          </a:bodyPr>
          <a:lstStyle/>
          <a:p>
            <a:pPr marL="0" indent="0">
              <a:buNone/>
            </a:pPr>
            <a:r>
              <a:rPr lang="en-US" sz="3000" b="1" dirty="0" smtClean="0"/>
              <a:t>The KNN </a:t>
            </a:r>
            <a:r>
              <a:rPr lang="en-US" sz="3000" b="1" dirty="0"/>
              <a:t>working can be explained on the basis of the below algorithm:</a:t>
            </a:r>
          </a:p>
          <a:p>
            <a:r>
              <a:rPr lang="en-US" b="1" dirty="0"/>
              <a:t>Step-1:</a:t>
            </a:r>
            <a:r>
              <a:rPr lang="en-US" dirty="0"/>
              <a:t> Select the number K of the neighbors</a:t>
            </a:r>
          </a:p>
          <a:p>
            <a:r>
              <a:rPr lang="en-US" b="1" dirty="0"/>
              <a:t>Step-2:</a:t>
            </a:r>
            <a:r>
              <a:rPr lang="en-US" dirty="0"/>
              <a:t> Calculate the Euclidean distance of </a:t>
            </a:r>
            <a:r>
              <a:rPr lang="en-US" b="1" dirty="0"/>
              <a:t>K number of neighbors</a:t>
            </a:r>
            <a:endParaRPr lang="en-US" dirty="0"/>
          </a:p>
          <a:p>
            <a:r>
              <a:rPr lang="en-US" b="1" dirty="0"/>
              <a:t>Step-3:</a:t>
            </a:r>
            <a:r>
              <a:rPr lang="en-US" dirty="0"/>
              <a:t> Take the K nearest neighbors as per the calculated Euclidean distance.</a:t>
            </a:r>
          </a:p>
          <a:p>
            <a:r>
              <a:rPr lang="en-US" b="1" dirty="0"/>
              <a:t>Step-4:</a:t>
            </a:r>
            <a:r>
              <a:rPr lang="en-US" dirty="0"/>
              <a:t> Among these k neighbors, count the number of the data points in each category.</a:t>
            </a:r>
          </a:p>
          <a:p>
            <a:r>
              <a:rPr lang="en-US" b="1" dirty="0"/>
              <a:t>Step-5:</a:t>
            </a:r>
            <a:r>
              <a:rPr lang="en-US" dirty="0"/>
              <a:t> Assign the new data points to that category for which the number of the neighbor is maximum.</a:t>
            </a:r>
          </a:p>
          <a:p>
            <a:r>
              <a:rPr lang="en-US" b="1" dirty="0"/>
              <a:t>Step-6:</a:t>
            </a:r>
            <a:r>
              <a:rPr lang="en-US" dirty="0"/>
              <a:t> Our model is ready.</a:t>
            </a:r>
          </a:p>
        </p:txBody>
      </p:sp>
    </p:spTree>
    <p:extLst>
      <p:ext uri="{BB962C8B-B14F-4D97-AF65-F5344CB8AC3E}">
        <p14:creationId xmlns:p14="http://schemas.microsoft.com/office/powerpoint/2010/main" val="95750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0013" y="234892"/>
            <a:ext cx="6411985" cy="1304794"/>
          </a:xfrm>
        </p:spPr>
        <p:txBody>
          <a:bodyPr/>
          <a:lstStyle/>
          <a:p>
            <a:pPr marL="571500" indent="-571500">
              <a:buFont typeface="Wingdings" panose="05000000000000000000" pitchFamily="2" charset="2"/>
              <a:buChar char="Ø"/>
            </a:pPr>
            <a:r>
              <a:rPr lang="en-US" b="1" dirty="0" smtClean="0"/>
              <a:t>How to choose a K value?</a:t>
            </a:r>
            <a:endParaRPr lang="en-US" dirty="0"/>
          </a:p>
        </p:txBody>
      </p:sp>
      <p:sp>
        <p:nvSpPr>
          <p:cNvPr id="3" name="Content Placeholder 2"/>
          <p:cNvSpPr>
            <a:spLocks noGrp="1"/>
          </p:cNvSpPr>
          <p:nvPr>
            <p:ph idx="1"/>
          </p:nvPr>
        </p:nvSpPr>
        <p:spPr>
          <a:xfrm>
            <a:off x="5780013" y="1599121"/>
            <a:ext cx="6411985" cy="5258879"/>
          </a:xfrm>
        </p:spPr>
        <p:txBody>
          <a:bodyPr>
            <a:normAutofit/>
          </a:bodyPr>
          <a:lstStyle/>
          <a:p>
            <a:pPr marL="0" indent="0">
              <a:buNone/>
            </a:pPr>
            <a:r>
              <a:rPr lang="en-US" sz="2400" dirty="0" smtClean="0"/>
              <a:t>K value </a:t>
            </a:r>
            <a:r>
              <a:rPr lang="en-US" sz="2400" dirty="0"/>
              <a:t>indicates the count of the nearest neighbors. We have to compute distances between test points and trained labels points. Updating distance metrics with every iteration is computationally expensive, and that’s why KNN is a lazy learning algorithm</a:t>
            </a:r>
            <a:r>
              <a:rPr lang="en-US" sz="2400" dirty="0" smtClean="0"/>
              <a:t>.</a:t>
            </a:r>
          </a:p>
          <a:p>
            <a:r>
              <a:rPr lang="en-US" sz="2400" dirty="0"/>
              <a:t>As you can verify from the above image, if we proceed with K=3, then we predict that test input belongs to class B, and if we continue with K=7, then we predict that test input belongs to class A.</a:t>
            </a:r>
          </a:p>
          <a:p>
            <a:r>
              <a:rPr lang="en-US" sz="2400" dirty="0"/>
              <a:t>That’s how you can imagine that the K value has a powerful effect on KNN performance.</a:t>
            </a:r>
          </a:p>
          <a:p>
            <a:pPr marL="0" indent="0">
              <a:buNone/>
            </a:pP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28132"/>
            <a:ext cx="5780013" cy="5129868"/>
          </a:xfrm>
          <a:prstGeom prst="rect">
            <a:avLst/>
          </a:prstGeom>
        </p:spPr>
      </p:pic>
    </p:spTree>
    <p:extLst>
      <p:ext uri="{BB962C8B-B14F-4D97-AF65-F5344CB8AC3E}">
        <p14:creationId xmlns:p14="http://schemas.microsoft.com/office/powerpoint/2010/main" val="42553993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612772" cy="1325563"/>
          </a:xfrm>
        </p:spPr>
        <p:txBody>
          <a:bodyPr/>
          <a:lstStyle/>
          <a:p>
            <a:r>
              <a:rPr lang="en-US" b="1" dirty="0" smtClean="0"/>
              <a:t>how to select the optimal K value?</a:t>
            </a:r>
            <a:endParaRPr lang="en-US" b="1" dirty="0"/>
          </a:p>
        </p:txBody>
      </p:sp>
      <p:sp>
        <p:nvSpPr>
          <p:cNvPr id="3" name="Content Placeholder 2"/>
          <p:cNvSpPr>
            <a:spLocks noGrp="1"/>
          </p:cNvSpPr>
          <p:nvPr>
            <p:ph idx="1"/>
          </p:nvPr>
        </p:nvSpPr>
        <p:spPr>
          <a:xfrm>
            <a:off x="838200" y="1825625"/>
            <a:ext cx="10612772" cy="4935902"/>
          </a:xfrm>
        </p:spPr>
        <p:txBody>
          <a:bodyPr/>
          <a:lstStyle/>
          <a:p>
            <a:r>
              <a:rPr lang="en-US" sz="2400" dirty="0"/>
              <a:t>There are no pre-defined statistical methods to find the most favorable value of K.</a:t>
            </a:r>
          </a:p>
          <a:p>
            <a:r>
              <a:rPr lang="en-US" sz="2400" dirty="0"/>
              <a:t>Initialize a random K value and start computing.</a:t>
            </a:r>
          </a:p>
          <a:p>
            <a:r>
              <a:rPr lang="en-US" sz="2400" dirty="0"/>
              <a:t>Choosing a small value of K leads to unstable decision boundaries.</a:t>
            </a:r>
          </a:p>
          <a:p>
            <a:r>
              <a:rPr lang="en-US" sz="2400" dirty="0"/>
              <a:t>The substantial K value is better for classification as it leads to smoothening the decision boundaries.</a:t>
            </a:r>
          </a:p>
          <a:p>
            <a:r>
              <a:rPr lang="en-US" sz="2400" dirty="0"/>
              <a:t>Derive a plot between error rate and K denoting values in a defined range. Then choose the K value as having a minimum error rate.</a:t>
            </a:r>
          </a:p>
          <a:p>
            <a:pPr>
              <a:buFont typeface="Wingdings" panose="05000000000000000000" pitchFamily="2" charset="2"/>
              <a:buChar char="Ø"/>
            </a:pPr>
            <a:r>
              <a:rPr lang="en-US" b="1" dirty="0" smtClean="0"/>
              <a:t>Note: </a:t>
            </a:r>
            <a:r>
              <a:rPr lang="en-US" sz="1800" dirty="0"/>
              <a:t>The optimal K value usually found is the </a:t>
            </a:r>
            <a:r>
              <a:rPr lang="en-US" sz="1800" b="1" dirty="0"/>
              <a:t>square root of N,</a:t>
            </a:r>
            <a:r>
              <a:rPr lang="en-US" sz="1800" dirty="0"/>
              <a:t> where N is the total number of samples.</a:t>
            </a:r>
          </a:p>
          <a:p>
            <a:pPr>
              <a:buFont typeface="Wingdings" panose="05000000000000000000" pitchFamily="2" charset="2"/>
              <a:buChar char="Ø"/>
            </a:pPr>
            <a:r>
              <a:rPr lang="en-US" sz="2400" dirty="0" smtClean="0"/>
              <a:t>Odd value of K is selected to avoid confusion between two classes of data</a:t>
            </a:r>
            <a:endParaRPr lang="en-US" sz="2400" dirty="0"/>
          </a:p>
        </p:txBody>
      </p:sp>
    </p:spTree>
    <p:extLst>
      <p:ext uri="{BB962C8B-B14F-4D97-AF65-F5344CB8AC3E}">
        <p14:creationId xmlns:p14="http://schemas.microsoft.com/office/powerpoint/2010/main" val="28799584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7999"/>
          </a:xfrm>
        </p:spPr>
      </p:pic>
    </p:spTree>
    <p:extLst>
      <p:ext uri="{BB962C8B-B14F-4D97-AF65-F5344CB8AC3E}">
        <p14:creationId xmlns:p14="http://schemas.microsoft.com/office/powerpoint/2010/main" val="5450404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540</Words>
  <Application>Microsoft Office PowerPoint</Application>
  <PresentationFormat>Widescreen</PresentationFormat>
  <Paragraphs>39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Wingdings</vt:lpstr>
      <vt:lpstr>Office Theme</vt:lpstr>
      <vt:lpstr>KNN Algorithm</vt:lpstr>
      <vt:lpstr>Introduction</vt:lpstr>
      <vt:lpstr>Overview of KNN</vt:lpstr>
      <vt:lpstr>Distance Metrics</vt:lpstr>
      <vt:lpstr>To classify an unknown record:</vt:lpstr>
      <vt:lpstr>How does KNN work?</vt:lpstr>
      <vt:lpstr>How to choose a K value?</vt:lpstr>
      <vt:lpstr>how to select the optimal K value?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KNN Algorithm</dc:title>
  <dc:creator>عبد الرحمن سيد على محمد</dc:creator>
  <cp:lastModifiedBy>عبد الرحمن سيد على محمد</cp:lastModifiedBy>
  <cp:revision>12</cp:revision>
  <dcterms:created xsi:type="dcterms:W3CDTF">2021-04-12T08:09:12Z</dcterms:created>
  <dcterms:modified xsi:type="dcterms:W3CDTF">2021-04-12T11:40:36Z</dcterms:modified>
</cp:coreProperties>
</file>