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9"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328" autoAdjust="0"/>
  </p:normalViewPr>
  <p:slideViewPr>
    <p:cSldViewPr snapToGrid="0">
      <p:cViewPr>
        <p:scale>
          <a:sx n="100" d="100"/>
          <a:sy n="100" d="100"/>
        </p:scale>
        <p:origin x="954" y="4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F25BACA-1DC2-4D96-BA38-9961025ECE26}" type="datetimeFigureOut">
              <a:rPr lang="en-US" smtClean="0"/>
              <a:t>4/12/2021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F3C2A-3CC7-4CD6-B7E8-DB2C7437AB5D}" type="slidenum">
              <a:rPr lang="en-US" smtClean="0"/>
              <a:t>‹#›</a:t>
            </a:fld>
            <a:endParaRPr lang="en-US"/>
          </a:p>
        </p:txBody>
      </p:sp>
    </p:spTree>
    <p:extLst>
      <p:ext uri="{BB962C8B-B14F-4D97-AF65-F5344CB8AC3E}">
        <p14:creationId xmlns:p14="http://schemas.microsoft.com/office/powerpoint/2010/main" val="703588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25BACA-1DC2-4D96-BA38-9961025ECE26}" type="datetimeFigureOut">
              <a:rPr lang="en-US" smtClean="0"/>
              <a:t>4/12/2021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F3C2A-3CC7-4CD6-B7E8-DB2C7437AB5D}" type="slidenum">
              <a:rPr lang="en-US" smtClean="0"/>
              <a:t>‹#›</a:t>
            </a:fld>
            <a:endParaRPr lang="en-US"/>
          </a:p>
        </p:txBody>
      </p:sp>
    </p:spTree>
    <p:extLst>
      <p:ext uri="{BB962C8B-B14F-4D97-AF65-F5344CB8AC3E}">
        <p14:creationId xmlns:p14="http://schemas.microsoft.com/office/powerpoint/2010/main" val="282329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F25BACA-1DC2-4D96-BA38-9961025ECE26}" type="datetimeFigureOut">
              <a:rPr lang="en-US" smtClean="0"/>
              <a:t>4/12/2021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F3C2A-3CC7-4CD6-B7E8-DB2C7437AB5D}" type="slidenum">
              <a:rPr lang="en-US" smtClean="0"/>
              <a:t>‹#›</a:t>
            </a:fld>
            <a:endParaRPr lang="en-US"/>
          </a:p>
        </p:txBody>
      </p:sp>
    </p:spTree>
    <p:extLst>
      <p:ext uri="{BB962C8B-B14F-4D97-AF65-F5344CB8AC3E}">
        <p14:creationId xmlns:p14="http://schemas.microsoft.com/office/powerpoint/2010/main" val="1188054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F25BACA-1DC2-4D96-BA38-9961025ECE26}" type="datetimeFigureOut">
              <a:rPr lang="en-US" smtClean="0"/>
              <a:t>4/12/2021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BF3C2A-3CC7-4CD6-B7E8-DB2C7437AB5D}" type="slidenum">
              <a:rPr lang="en-US" smtClean="0"/>
              <a:t>‹#›</a:t>
            </a:fld>
            <a:endParaRPr lang="en-US"/>
          </a:p>
        </p:txBody>
      </p:sp>
    </p:spTree>
    <p:extLst>
      <p:ext uri="{BB962C8B-B14F-4D97-AF65-F5344CB8AC3E}">
        <p14:creationId xmlns:p14="http://schemas.microsoft.com/office/powerpoint/2010/main" val="1422105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F25BACA-1DC2-4D96-BA38-9961025ECE26}" type="datetimeFigureOut">
              <a:rPr lang="en-US" smtClean="0"/>
              <a:t>4/12/2021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BF3C2A-3CC7-4CD6-B7E8-DB2C7437AB5D}" type="slidenum">
              <a:rPr lang="en-US" smtClean="0"/>
              <a:t>‹#›</a:t>
            </a:fld>
            <a:endParaRPr lang="en-US"/>
          </a:p>
        </p:txBody>
      </p:sp>
    </p:spTree>
    <p:extLst>
      <p:ext uri="{BB962C8B-B14F-4D97-AF65-F5344CB8AC3E}">
        <p14:creationId xmlns:p14="http://schemas.microsoft.com/office/powerpoint/2010/main" val="3543738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F25BACA-1DC2-4D96-BA38-9961025ECE26}" type="datetimeFigureOut">
              <a:rPr lang="en-US" smtClean="0"/>
              <a:t>4/12/2021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BF3C2A-3CC7-4CD6-B7E8-DB2C7437AB5D}" type="slidenum">
              <a:rPr lang="en-US" smtClean="0"/>
              <a:t>‹#›</a:t>
            </a:fld>
            <a:endParaRPr lang="en-US"/>
          </a:p>
        </p:txBody>
      </p:sp>
    </p:spTree>
    <p:extLst>
      <p:ext uri="{BB962C8B-B14F-4D97-AF65-F5344CB8AC3E}">
        <p14:creationId xmlns:p14="http://schemas.microsoft.com/office/powerpoint/2010/main" val="1348304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25BACA-1DC2-4D96-BA38-9961025ECE26}" type="datetimeFigureOut">
              <a:rPr lang="en-US" smtClean="0"/>
              <a:t>4/12/2021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BF3C2A-3CC7-4CD6-B7E8-DB2C7437AB5D}" type="slidenum">
              <a:rPr lang="en-US" smtClean="0"/>
              <a:t>‹#›</a:t>
            </a:fld>
            <a:endParaRPr lang="en-US"/>
          </a:p>
        </p:txBody>
      </p:sp>
    </p:spTree>
    <p:extLst>
      <p:ext uri="{BB962C8B-B14F-4D97-AF65-F5344CB8AC3E}">
        <p14:creationId xmlns:p14="http://schemas.microsoft.com/office/powerpoint/2010/main" val="3822994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F25BACA-1DC2-4D96-BA38-9961025ECE26}" type="datetimeFigureOut">
              <a:rPr lang="en-US" smtClean="0"/>
              <a:t>4/12/2021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BF3C2A-3CC7-4CD6-B7E8-DB2C7437AB5D}" type="slidenum">
              <a:rPr lang="en-US" smtClean="0"/>
              <a:t>‹#›</a:t>
            </a:fld>
            <a:endParaRPr lang="en-US"/>
          </a:p>
        </p:txBody>
      </p:sp>
    </p:spTree>
    <p:extLst>
      <p:ext uri="{BB962C8B-B14F-4D97-AF65-F5344CB8AC3E}">
        <p14:creationId xmlns:p14="http://schemas.microsoft.com/office/powerpoint/2010/main" val="3986214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F25BACA-1DC2-4D96-BA38-9961025ECE26}" type="datetimeFigureOut">
              <a:rPr lang="en-US" smtClean="0"/>
              <a:t>4/12/2021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BF3C2A-3CC7-4CD6-B7E8-DB2C7437AB5D}" type="slidenum">
              <a:rPr lang="en-US" smtClean="0"/>
              <a:t>‹#›</a:t>
            </a:fld>
            <a:endParaRPr lang="en-US"/>
          </a:p>
        </p:txBody>
      </p:sp>
    </p:spTree>
    <p:extLst>
      <p:ext uri="{BB962C8B-B14F-4D97-AF65-F5344CB8AC3E}">
        <p14:creationId xmlns:p14="http://schemas.microsoft.com/office/powerpoint/2010/main" val="4034223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25BACA-1DC2-4D96-BA38-9961025ECE26}" type="datetimeFigureOut">
              <a:rPr lang="en-US" smtClean="0"/>
              <a:t>4/12/2021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F3C2A-3CC7-4CD6-B7E8-DB2C7437AB5D}" type="slidenum">
              <a:rPr lang="en-US" smtClean="0"/>
              <a:t>‹#›</a:t>
            </a:fld>
            <a:endParaRPr lang="en-US"/>
          </a:p>
        </p:txBody>
      </p:sp>
    </p:spTree>
    <p:extLst>
      <p:ext uri="{BB962C8B-B14F-4D97-AF65-F5344CB8AC3E}">
        <p14:creationId xmlns:p14="http://schemas.microsoft.com/office/powerpoint/2010/main" val="896919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25BACA-1DC2-4D96-BA38-9961025ECE26}" type="datetimeFigureOut">
              <a:rPr lang="en-US" smtClean="0"/>
              <a:t>4/12/2021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F3C2A-3CC7-4CD6-B7E8-DB2C7437AB5D}" type="slidenum">
              <a:rPr lang="en-US" smtClean="0"/>
              <a:t>‹#›</a:t>
            </a:fld>
            <a:endParaRPr lang="en-US"/>
          </a:p>
        </p:txBody>
      </p:sp>
    </p:spTree>
    <p:extLst>
      <p:ext uri="{BB962C8B-B14F-4D97-AF65-F5344CB8AC3E}">
        <p14:creationId xmlns:p14="http://schemas.microsoft.com/office/powerpoint/2010/main" val="2638993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25BACA-1DC2-4D96-BA38-9961025ECE26}" type="datetimeFigureOut">
              <a:rPr lang="en-US" smtClean="0"/>
              <a:t>4/12/2021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BF3C2A-3CC7-4CD6-B7E8-DB2C7437AB5D}" type="slidenum">
              <a:rPr lang="en-US" smtClean="0"/>
              <a:t>‹#›</a:t>
            </a:fld>
            <a:endParaRPr lang="en-US"/>
          </a:p>
        </p:txBody>
      </p:sp>
    </p:spTree>
    <p:extLst>
      <p:ext uri="{BB962C8B-B14F-4D97-AF65-F5344CB8AC3E}">
        <p14:creationId xmlns:p14="http://schemas.microsoft.com/office/powerpoint/2010/main" val="1636444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gif"/><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76300" y="0"/>
            <a:ext cx="5715700" cy="1350628"/>
          </a:xfrm>
        </p:spPr>
        <p:txBody>
          <a:bodyPr>
            <a:normAutofit/>
          </a:bodyPr>
          <a:lstStyle/>
          <a:p>
            <a:r>
              <a:rPr lang="en-US" sz="4800" b="1" dirty="0" smtClean="0">
                <a:solidFill>
                  <a:schemeClr val="accent1">
                    <a:lumMod val="50000"/>
                  </a:schemeClr>
                </a:solidFill>
              </a:rPr>
              <a:t>Regression Algorithm</a:t>
            </a:r>
            <a:endParaRPr lang="en-US" sz="4800" b="1" dirty="0">
              <a:solidFill>
                <a:schemeClr val="accent1">
                  <a:lumMod val="50000"/>
                </a:schemeClr>
              </a:solidFill>
            </a:endParaRPr>
          </a:p>
        </p:txBody>
      </p:sp>
      <p:sp>
        <p:nvSpPr>
          <p:cNvPr id="3" name="Subtitle 2"/>
          <p:cNvSpPr>
            <a:spLocks noGrp="1"/>
          </p:cNvSpPr>
          <p:nvPr>
            <p:ph type="subTitle" idx="1"/>
          </p:nvPr>
        </p:nvSpPr>
        <p:spPr>
          <a:xfrm>
            <a:off x="6476300" y="1501629"/>
            <a:ext cx="5715700" cy="5356370"/>
          </a:xfrm>
        </p:spPr>
        <p:txBody>
          <a:bodyPr/>
          <a:lstStyle/>
          <a:p>
            <a:pPr marL="342900" indent="-342900" algn="l">
              <a:buFont typeface="Wingdings" panose="05000000000000000000" pitchFamily="2" charset="2"/>
              <a:buChar char="Ø"/>
            </a:pPr>
            <a:r>
              <a:rPr lang="en-US" b="1" dirty="0" smtClean="0">
                <a:solidFill>
                  <a:schemeClr val="accent1">
                    <a:lumMod val="75000"/>
                  </a:schemeClr>
                </a:solidFill>
              </a:rPr>
              <a:t>Introduction</a:t>
            </a:r>
          </a:p>
          <a:p>
            <a:pPr marL="342900" indent="-342900" algn="l">
              <a:buFont typeface="Wingdings" panose="05000000000000000000" pitchFamily="2" charset="2"/>
              <a:buChar char="Ø"/>
            </a:pPr>
            <a:r>
              <a:rPr lang="en-US" b="1" dirty="0" smtClean="0">
                <a:solidFill>
                  <a:schemeClr val="accent1">
                    <a:lumMod val="75000"/>
                  </a:schemeClr>
                </a:solidFill>
              </a:rPr>
              <a:t>Hypothesis</a:t>
            </a:r>
          </a:p>
          <a:p>
            <a:pPr marL="342900" indent="-342900" algn="l">
              <a:buFont typeface="Wingdings" panose="05000000000000000000" pitchFamily="2" charset="2"/>
              <a:buChar char="Ø"/>
            </a:pPr>
            <a:r>
              <a:rPr lang="en-US" b="1" dirty="0" smtClean="0">
                <a:solidFill>
                  <a:schemeClr val="accent1">
                    <a:lumMod val="75000"/>
                  </a:schemeClr>
                </a:solidFill>
              </a:rPr>
              <a:t>Cost Function</a:t>
            </a:r>
          </a:p>
          <a:p>
            <a:pPr marL="342900" indent="-342900" algn="l">
              <a:buFont typeface="Wingdings" panose="05000000000000000000" pitchFamily="2" charset="2"/>
              <a:buChar char="Ø"/>
            </a:pPr>
            <a:r>
              <a:rPr lang="en-US" b="1" dirty="0" smtClean="0">
                <a:solidFill>
                  <a:schemeClr val="accent1">
                    <a:lumMod val="75000"/>
                  </a:schemeClr>
                </a:solidFill>
              </a:rPr>
              <a:t>Gradient Descent</a:t>
            </a:r>
          </a:p>
          <a:p>
            <a:pPr marL="342900" indent="-342900" algn="l">
              <a:buFont typeface="Wingdings" panose="05000000000000000000" pitchFamily="2" charset="2"/>
              <a:buChar char="Ø"/>
            </a:pPr>
            <a:r>
              <a:rPr lang="en-US" b="1" dirty="0">
                <a:solidFill>
                  <a:schemeClr val="accent1">
                    <a:lumMod val="75000"/>
                  </a:schemeClr>
                </a:solidFill>
              </a:rPr>
              <a:t>A</a:t>
            </a:r>
            <a:r>
              <a:rPr lang="en-US" b="1" dirty="0" smtClean="0">
                <a:solidFill>
                  <a:schemeClr val="accent1">
                    <a:lumMod val="75000"/>
                  </a:schemeClr>
                </a:solidFill>
              </a:rPr>
              <a:t>lgorithm Implementation</a:t>
            </a:r>
            <a:endParaRPr lang="en-US" b="1" dirty="0">
              <a:solidFill>
                <a:schemeClr val="accent1">
                  <a:lumMod val="75000"/>
                </a:schemeClr>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6476301" cy="6857999"/>
          </a:xfrm>
          <a:prstGeom prst="rect">
            <a:avLst/>
          </a:prstGeom>
        </p:spPr>
      </p:pic>
    </p:spTree>
    <p:extLst>
      <p:ext uri="{BB962C8B-B14F-4D97-AF65-F5344CB8AC3E}">
        <p14:creationId xmlns:p14="http://schemas.microsoft.com/office/powerpoint/2010/main" val="21736541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157680"/>
          </a:xfrm>
        </p:spPr>
        <p:txBody>
          <a:bodyPr/>
          <a:lstStyle/>
          <a:p>
            <a:r>
              <a:rPr lang="en-US" b="1" dirty="0" smtClean="0">
                <a:solidFill>
                  <a:schemeClr val="accent1">
                    <a:lumMod val="50000"/>
                  </a:schemeClr>
                </a:solidFill>
              </a:rPr>
              <a:t>Introduction</a:t>
            </a:r>
            <a:endParaRPr lang="en-US" b="1" dirty="0">
              <a:solidFill>
                <a:schemeClr val="accent1">
                  <a:lumMod val="50000"/>
                </a:schemeClr>
              </a:solidFill>
            </a:endParaRPr>
          </a:p>
        </p:txBody>
      </p:sp>
      <p:sp>
        <p:nvSpPr>
          <p:cNvPr id="3" name="Content Placeholder 2"/>
          <p:cNvSpPr>
            <a:spLocks noGrp="1"/>
          </p:cNvSpPr>
          <p:nvPr>
            <p:ph idx="1"/>
          </p:nvPr>
        </p:nvSpPr>
        <p:spPr>
          <a:xfrm>
            <a:off x="0" y="1157682"/>
            <a:ext cx="12192000" cy="5700318"/>
          </a:xfrm>
        </p:spPr>
        <p:txBody>
          <a:bodyPr>
            <a:noAutofit/>
          </a:bodyPr>
          <a:lstStyle/>
          <a:p>
            <a:pPr marL="0" indent="0">
              <a:buNone/>
            </a:pPr>
            <a:r>
              <a:rPr lang="en-US" sz="1800" b="1" dirty="0" smtClean="0">
                <a:solidFill>
                  <a:schemeClr val="accent1">
                    <a:lumMod val="75000"/>
                  </a:schemeClr>
                </a:solidFill>
              </a:rPr>
              <a:t>Linear regression </a:t>
            </a:r>
            <a:r>
              <a:rPr lang="en-US" sz="1800" dirty="0" smtClean="0">
                <a:solidFill>
                  <a:schemeClr val="accent1">
                    <a:lumMod val="75000"/>
                  </a:schemeClr>
                </a:solidFill>
              </a:rPr>
              <a:t>is an approach for modeling the relationship between a scalar </a:t>
            </a:r>
            <a:r>
              <a:rPr lang="en-US" sz="1800" b="1" dirty="0" smtClean="0">
                <a:solidFill>
                  <a:schemeClr val="accent1">
                    <a:lumMod val="75000"/>
                  </a:schemeClr>
                </a:solidFill>
              </a:rPr>
              <a:t>dependent variable </a:t>
            </a:r>
            <a:r>
              <a:rPr lang="en-US" sz="1800" dirty="0" smtClean="0">
                <a:solidFill>
                  <a:schemeClr val="accent1">
                    <a:lumMod val="75000"/>
                  </a:schemeClr>
                </a:solidFill>
              </a:rPr>
              <a:t>y and one or more explanatory variables (or </a:t>
            </a:r>
            <a:r>
              <a:rPr lang="en-US" sz="1800" b="1" dirty="0" smtClean="0">
                <a:solidFill>
                  <a:schemeClr val="accent1">
                    <a:lumMod val="75000"/>
                  </a:schemeClr>
                </a:solidFill>
              </a:rPr>
              <a:t>independent variables</a:t>
            </a:r>
            <a:r>
              <a:rPr lang="en-US" sz="1800" dirty="0" smtClean="0">
                <a:solidFill>
                  <a:schemeClr val="accent1">
                    <a:lumMod val="75000"/>
                  </a:schemeClr>
                </a:solidFill>
              </a:rPr>
              <a:t>) denoted X.</a:t>
            </a:r>
          </a:p>
          <a:p>
            <a:pPr marL="0" indent="0">
              <a:buNone/>
            </a:pPr>
            <a:r>
              <a:rPr lang="en-US" sz="1800" dirty="0" smtClean="0">
                <a:solidFill>
                  <a:schemeClr val="accent1">
                    <a:lumMod val="75000"/>
                  </a:schemeClr>
                </a:solidFill>
              </a:rPr>
              <a:t/>
            </a:r>
            <a:br>
              <a:rPr lang="en-US" sz="1800" dirty="0" smtClean="0">
                <a:solidFill>
                  <a:schemeClr val="accent1">
                    <a:lumMod val="75000"/>
                  </a:schemeClr>
                </a:solidFill>
              </a:rPr>
            </a:br>
            <a:r>
              <a:rPr lang="en-US" sz="1800" dirty="0" smtClean="0">
                <a:solidFill>
                  <a:schemeClr val="accent1">
                    <a:lumMod val="75000"/>
                  </a:schemeClr>
                </a:solidFill>
              </a:rPr>
              <a:t>The case of one explanatory variable is called </a:t>
            </a:r>
            <a:r>
              <a:rPr lang="en-US" sz="1800" b="1" dirty="0" smtClean="0">
                <a:solidFill>
                  <a:schemeClr val="accent1">
                    <a:lumMod val="75000"/>
                  </a:schemeClr>
                </a:solidFill>
              </a:rPr>
              <a:t>simple linear regression </a:t>
            </a:r>
            <a:r>
              <a:rPr lang="en-US" sz="1800" dirty="0" smtClean="0">
                <a:solidFill>
                  <a:schemeClr val="accent1">
                    <a:lumMod val="75000"/>
                  </a:schemeClr>
                </a:solidFill>
              </a:rPr>
              <a:t>or </a:t>
            </a:r>
            <a:r>
              <a:rPr lang="en-US" sz="1800" b="1" dirty="0" smtClean="0">
                <a:solidFill>
                  <a:schemeClr val="accent1">
                    <a:lumMod val="75000"/>
                  </a:schemeClr>
                </a:solidFill>
              </a:rPr>
              <a:t>univariate linear regression</a:t>
            </a:r>
            <a:r>
              <a:rPr lang="en-US" sz="1800" dirty="0" smtClean="0">
                <a:solidFill>
                  <a:schemeClr val="accent1">
                    <a:lumMod val="75000"/>
                  </a:schemeClr>
                </a:solidFill>
              </a:rPr>
              <a:t>.</a:t>
            </a:r>
          </a:p>
          <a:p>
            <a:pPr marL="0" indent="0">
              <a:buNone/>
            </a:pPr>
            <a:endParaRPr lang="en-US" sz="1800" dirty="0">
              <a:solidFill>
                <a:schemeClr val="accent1">
                  <a:lumMod val="75000"/>
                </a:schemeClr>
              </a:solidFill>
            </a:endParaRPr>
          </a:p>
          <a:p>
            <a:pPr marL="0" indent="0">
              <a:buNone/>
            </a:pPr>
            <a:endParaRPr lang="en-US" sz="1800" dirty="0" smtClean="0">
              <a:solidFill>
                <a:schemeClr val="accent1">
                  <a:lumMod val="75000"/>
                </a:schemeClr>
              </a:solidFill>
            </a:endParaRPr>
          </a:p>
          <a:p>
            <a:pPr marL="0" indent="0">
              <a:buNone/>
            </a:pPr>
            <a:r>
              <a:rPr lang="en-US" sz="1800" dirty="0" smtClean="0">
                <a:solidFill>
                  <a:schemeClr val="accent1">
                    <a:lumMod val="75000"/>
                  </a:schemeClr>
                </a:solidFill>
              </a:rPr>
              <a:t/>
            </a:r>
            <a:br>
              <a:rPr lang="en-US" sz="1800" dirty="0" smtClean="0">
                <a:solidFill>
                  <a:schemeClr val="accent1">
                    <a:lumMod val="75000"/>
                  </a:schemeClr>
                </a:solidFill>
              </a:rPr>
            </a:br>
            <a:r>
              <a:rPr lang="en-US" sz="1800" dirty="0" smtClean="0">
                <a:solidFill>
                  <a:schemeClr val="accent1">
                    <a:lumMod val="75000"/>
                  </a:schemeClr>
                </a:solidFill>
              </a:rPr>
              <a:t>For more than one explanatory variable, the process is called </a:t>
            </a:r>
            <a:r>
              <a:rPr lang="en-US" sz="1800" b="1" dirty="0" smtClean="0">
                <a:solidFill>
                  <a:schemeClr val="accent1">
                    <a:lumMod val="75000"/>
                  </a:schemeClr>
                </a:solidFill>
              </a:rPr>
              <a:t>multiple linear regression</a:t>
            </a:r>
            <a:r>
              <a:rPr lang="en-US" sz="1800" dirty="0" smtClean="0">
                <a:solidFill>
                  <a:schemeClr val="accent1">
                    <a:lumMod val="75000"/>
                  </a:schemeClr>
                </a:solidFill>
              </a:rPr>
              <a:t>. </a:t>
            </a:r>
          </a:p>
          <a:p>
            <a:pPr marL="0" indent="0">
              <a:buNone/>
            </a:pPr>
            <a:endParaRPr lang="en-US" sz="3000" dirty="0">
              <a:solidFill>
                <a:schemeClr val="accent1">
                  <a:lumMod val="75000"/>
                </a:schemeClr>
              </a:solidFill>
            </a:endParaRPr>
          </a:p>
          <a:p>
            <a:pPr marL="0" indent="0">
              <a:buNone/>
            </a:pPr>
            <a:endParaRPr lang="en-US" sz="3000" dirty="0" smtClean="0">
              <a:solidFill>
                <a:schemeClr val="accent1">
                  <a:lumMod val="75000"/>
                </a:schemeClr>
              </a:solidFill>
            </a:endParaRPr>
          </a:p>
          <a:p>
            <a:pPr marL="0" indent="0">
              <a:buNone/>
            </a:pPr>
            <a:r>
              <a:rPr lang="en-US" sz="3000" dirty="0" smtClean="0">
                <a:solidFill>
                  <a:schemeClr val="accent1">
                    <a:lumMod val="75000"/>
                  </a:schemeClr>
                </a:solidFill>
              </a:rPr>
              <a:t/>
            </a:r>
            <a:br>
              <a:rPr lang="en-US" sz="3000" dirty="0" smtClean="0">
                <a:solidFill>
                  <a:schemeClr val="accent1">
                    <a:lumMod val="75000"/>
                  </a:schemeClr>
                </a:solidFill>
              </a:rPr>
            </a:br>
            <a:r>
              <a:rPr lang="en-US" sz="1800" dirty="0">
                <a:solidFill>
                  <a:schemeClr val="accent1">
                    <a:lumMod val="75000"/>
                  </a:schemeClr>
                </a:solidFill>
              </a:rPr>
              <a:t>In linear regression, the relationships are modeled using linear predictor functions whose unknown model parameters are estimated from the data. </a:t>
            </a:r>
            <a:r>
              <a:rPr lang="en-US" sz="1800" dirty="0" smtClean="0">
                <a:solidFill>
                  <a:schemeClr val="accent1">
                    <a:lumMod val="75000"/>
                  </a:schemeClr>
                </a:solidFill>
              </a:rPr>
              <a:t>Such </a:t>
            </a:r>
            <a:r>
              <a:rPr lang="en-US" sz="1800" dirty="0">
                <a:solidFill>
                  <a:schemeClr val="accent1">
                    <a:lumMod val="75000"/>
                  </a:schemeClr>
                </a:solidFill>
              </a:rPr>
              <a:t>models are called linear models.</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4152" y="2770492"/>
            <a:ext cx="3962953" cy="492062"/>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3785" y="4289981"/>
            <a:ext cx="4563688" cy="523008"/>
          </a:xfrm>
          <a:prstGeom prst="rect">
            <a:avLst/>
          </a:prstGeom>
        </p:spPr>
      </p:pic>
    </p:spTree>
    <p:extLst>
      <p:ext uri="{BB962C8B-B14F-4D97-AF65-F5344CB8AC3E}">
        <p14:creationId xmlns:p14="http://schemas.microsoft.com/office/powerpoint/2010/main" val="22262367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898410"/>
          </a:xfrm>
        </p:spPr>
        <p:txBody>
          <a:bodyPr/>
          <a:lstStyle/>
          <a:p>
            <a:pPr marL="342900" indent="-342900"/>
            <a:r>
              <a:rPr lang="en-US" b="1" dirty="0" smtClean="0">
                <a:solidFill>
                  <a:schemeClr val="accent1">
                    <a:lumMod val="50000"/>
                  </a:schemeClr>
                </a:solidFill>
              </a:rPr>
              <a:t>Hypothesis</a:t>
            </a:r>
            <a:endParaRPr lang="en-US" b="1" dirty="0" smtClean="0">
              <a:solidFill>
                <a:schemeClr val="accent1">
                  <a:lumMod val="50000"/>
                </a:schemeClr>
              </a:solidFill>
            </a:endParaRPr>
          </a:p>
        </p:txBody>
      </p:sp>
      <p:sp>
        <p:nvSpPr>
          <p:cNvPr id="3" name="Content Placeholder 2"/>
          <p:cNvSpPr>
            <a:spLocks noGrp="1"/>
          </p:cNvSpPr>
          <p:nvPr>
            <p:ph idx="1"/>
          </p:nvPr>
        </p:nvSpPr>
        <p:spPr>
          <a:xfrm>
            <a:off x="0" y="898410"/>
            <a:ext cx="12192000" cy="5959589"/>
          </a:xfrm>
        </p:spPr>
        <p:txBody>
          <a:bodyPr/>
          <a:lstStyle/>
          <a:p>
            <a:pPr marL="0" indent="0">
              <a:buNone/>
            </a:pPr>
            <a:r>
              <a:rPr lang="en-US" dirty="0">
                <a:solidFill>
                  <a:schemeClr val="accent1">
                    <a:lumMod val="75000"/>
                  </a:schemeClr>
                </a:solidFill>
              </a:rPr>
              <a:t>The hypothesis for a univariate linear regression model is given by,</a:t>
            </a:r>
          </a:p>
          <a:p>
            <a:pPr marL="0" indent="0" algn="ctr">
              <a:buNone/>
            </a:pPr>
            <a:r>
              <a:rPr lang="en-US" dirty="0" err="1">
                <a:solidFill>
                  <a:schemeClr val="accent1">
                    <a:lumMod val="75000"/>
                  </a:schemeClr>
                </a:solidFill>
              </a:rPr>
              <a:t>h</a:t>
            </a:r>
            <a:r>
              <a:rPr lang="en-US" sz="2000" dirty="0" err="1" smtClean="0">
                <a:solidFill>
                  <a:schemeClr val="accent1">
                    <a:lumMod val="75000"/>
                  </a:schemeClr>
                </a:solidFill>
              </a:rPr>
              <a:t>θ</a:t>
            </a:r>
            <a:r>
              <a:rPr lang="en-US" dirty="0" smtClean="0">
                <a:solidFill>
                  <a:schemeClr val="accent1">
                    <a:lumMod val="75000"/>
                  </a:schemeClr>
                </a:solidFill>
              </a:rPr>
              <a:t>(x) = θ</a:t>
            </a:r>
            <a:r>
              <a:rPr lang="en-US" sz="1800" dirty="0" smtClean="0">
                <a:solidFill>
                  <a:schemeClr val="accent1">
                    <a:lumMod val="75000"/>
                  </a:schemeClr>
                </a:solidFill>
              </a:rPr>
              <a:t>0</a:t>
            </a:r>
            <a:r>
              <a:rPr lang="en-US" dirty="0" smtClean="0">
                <a:solidFill>
                  <a:schemeClr val="accent1">
                    <a:lumMod val="75000"/>
                  </a:schemeClr>
                </a:solidFill>
              </a:rPr>
              <a:t> + θ</a:t>
            </a:r>
            <a:r>
              <a:rPr lang="en-US" sz="1800" dirty="0" smtClean="0">
                <a:solidFill>
                  <a:schemeClr val="accent1">
                    <a:lumMod val="75000"/>
                  </a:schemeClr>
                </a:solidFill>
              </a:rPr>
              <a:t>1</a:t>
            </a:r>
            <a:r>
              <a:rPr lang="en-US" dirty="0">
                <a:solidFill>
                  <a:schemeClr val="accent1">
                    <a:lumMod val="75000"/>
                  </a:schemeClr>
                </a:solidFill>
              </a:rPr>
              <a:t>X</a:t>
            </a:r>
            <a:endParaRPr lang="en-US" dirty="0" smtClean="0">
              <a:solidFill>
                <a:schemeClr val="accent1">
                  <a:lumMod val="75000"/>
                </a:schemeClr>
              </a:solidFill>
            </a:endParaRPr>
          </a:p>
          <a:p>
            <a:pPr marL="0" indent="0">
              <a:buNone/>
            </a:pPr>
            <a:r>
              <a:rPr lang="en-US" dirty="0" smtClean="0">
                <a:solidFill>
                  <a:schemeClr val="accent1">
                    <a:lumMod val="75000"/>
                  </a:schemeClr>
                </a:solidFill>
              </a:rPr>
              <a:t>Where:</a:t>
            </a:r>
            <a:endParaRPr lang="en-US" dirty="0">
              <a:solidFill>
                <a:schemeClr val="accent1">
                  <a:lumMod val="75000"/>
                </a:schemeClr>
              </a:solidFill>
            </a:endParaRPr>
          </a:p>
          <a:p>
            <a:pPr lvl="1"/>
            <a:r>
              <a:rPr lang="en-US" dirty="0" err="1" smtClean="0">
                <a:solidFill>
                  <a:schemeClr val="accent1">
                    <a:lumMod val="75000"/>
                  </a:schemeClr>
                </a:solidFill>
              </a:rPr>
              <a:t>h</a:t>
            </a:r>
            <a:r>
              <a:rPr lang="en-US" sz="1800" dirty="0" err="1" smtClean="0">
                <a:solidFill>
                  <a:schemeClr val="accent1">
                    <a:lumMod val="75000"/>
                  </a:schemeClr>
                </a:solidFill>
              </a:rPr>
              <a:t>θ</a:t>
            </a:r>
            <a:r>
              <a:rPr lang="en-US" dirty="0" smtClean="0">
                <a:solidFill>
                  <a:schemeClr val="accent1">
                    <a:lumMod val="75000"/>
                  </a:schemeClr>
                </a:solidFill>
              </a:rPr>
              <a:t>(x)</a:t>
            </a:r>
            <a:r>
              <a:rPr lang="en-US" dirty="0">
                <a:solidFill>
                  <a:schemeClr val="accent1">
                    <a:lumMod val="75000"/>
                  </a:schemeClr>
                </a:solidFill>
              </a:rPr>
              <a:t> is the hypothesis function, also denoted as </a:t>
            </a:r>
            <a:r>
              <a:rPr lang="en-US" dirty="0" smtClean="0">
                <a:solidFill>
                  <a:schemeClr val="accent1">
                    <a:lumMod val="75000"/>
                  </a:schemeClr>
                </a:solidFill>
              </a:rPr>
              <a:t>h(x</a:t>
            </a:r>
            <a:r>
              <a:rPr lang="en-US" dirty="0">
                <a:solidFill>
                  <a:schemeClr val="accent1">
                    <a:lumMod val="75000"/>
                  </a:schemeClr>
                </a:solidFill>
              </a:rPr>
              <a:t>) sometimes</a:t>
            </a:r>
          </a:p>
          <a:p>
            <a:pPr lvl="1"/>
            <a:r>
              <a:rPr lang="en-US" dirty="0" smtClean="0">
                <a:solidFill>
                  <a:schemeClr val="accent1">
                    <a:lumMod val="75000"/>
                  </a:schemeClr>
                </a:solidFill>
              </a:rPr>
              <a:t>x</a:t>
            </a:r>
            <a:r>
              <a:rPr lang="en-US" dirty="0">
                <a:solidFill>
                  <a:schemeClr val="accent1">
                    <a:lumMod val="75000"/>
                  </a:schemeClr>
                </a:solidFill>
              </a:rPr>
              <a:t> is the independent variable</a:t>
            </a:r>
          </a:p>
          <a:p>
            <a:pPr lvl="1"/>
            <a:r>
              <a:rPr lang="en-US" dirty="0" smtClean="0">
                <a:solidFill>
                  <a:schemeClr val="accent1">
                    <a:lumMod val="75000"/>
                  </a:schemeClr>
                </a:solidFill>
              </a:rPr>
              <a:t>θ</a:t>
            </a:r>
            <a:r>
              <a:rPr lang="en-US" sz="1600" dirty="0" smtClean="0">
                <a:solidFill>
                  <a:schemeClr val="accent1">
                    <a:lumMod val="75000"/>
                  </a:schemeClr>
                </a:solidFill>
              </a:rPr>
              <a:t>0</a:t>
            </a:r>
            <a:r>
              <a:rPr lang="en-US" dirty="0">
                <a:solidFill>
                  <a:schemeClr val="accent1">
                    <a:lumMod val="75000"/>
                  </a:schemeClr>
                </a:solidFill>
              </a:rPr>
              <a:t> and </a:t>
            </a:r>
            <a:r>
              <a:rPr lang="en-US" dirty="0" smtClean="0">
                <a:solidFill>
                  <a:schemeClr val="accent1">
                    <a:lumMod val="75000"/>
                  </a:schemeClr>
                </a:solidFill>
              </a:rPr>
              <a:t>θ</a:t>
            </a:r>
            <a:r>
              <a:rPr lang="en-US" sz="1600" dirty="0" smtClean="0">
                <a:solidFill>
                  <a:schemeClr val="accent1">
                    <a:lumMod val="75000"/>
                  </a:schemeClr>
                </a:solidFill>
              </a:rPr>
              <a:t>1</a:t>
            </a:r>
            <a:r>
              <a:rPr lang="en-US" dirty="0">
                <a:solidFill>
                  <a:schemeClr val="accent1">
                    <a:lumMod val="75000"/>
                  </a:schemeClr>
                </a:solidFill>
              </a:rPr>
              <a:t> are the parameters of the linear regression that need to be learnt</a:t>
            </a:r>
          </a:p>
          <a:p>
            <a:pPr marL="0" indent="0">
              <a:buNone/>
            </a:pPr>
            <a:r>
              <a:rPr lang="en-US" b="1" dirty="0">
                <a:solidFill>
                  <a:schemeClr val="accent1">
                    <a:lumMod val="75000"/>
                  </a:schemeClr>
                </a:solidFill>
              </a:rPr>
              <a:t>Parameters of the </a:t>
            </a:r>
            <a:r>
              <a:rPr lang="en-US" b="1" dirty="0" smtClean="0">
                <a:solidFill>
                  <a:schemeClr val="accent1">
                    <a:lumMod val="75000"/>
                  </a:schemeClr>
                </a:solidFill>
              </a:rPr>
              <a:t>Hypothesis:</a:t>
            </a:r>
            <a:endParaRPr lang="en-US" b="1" dirty="0">
              <a:solidFill>
                <a:schemeClr val="accent1">
                  <a:lumMod val="75000"/>
                </a:schemeClr>
              </a:solidFill>
            </a:endParaRPr>
          </a:p>
          <a:p>
            <a:r>
              <a:rPr lang="en-US" dirty="0">
                <a:solidFill>
                  <a:schemeClr val="accent1">
                    <a:lumMod val="75000"/>
                  </a:schemeClr>
                </a:solidFill>
              </a:rPr>
              <a:t>In the above case of the hypothesis, </a:t>
            </a:r>
            <a:r>
              <a:rPr lang="en-US" dirty="0" smtClean="0">
                <a:solidFill>
                  <a:schemeClr val="accent1">
                    <a:lumMod val="75000"/>
                  </a:schemeClr>
                </a:solidFill>
              </a:rPr>
              <a:t>θ</a:t>
            </a:r>
            <a:r>
              <a:rPr lang="en-US" sz="1800" dirty="0" smtClean="0">
                <a:solidFill>
                  <a:schemeClr val="accent1">
                    <a:lumMod val="75000"/>
                  </a:schemeClr>
                </a:solidFill>
              </a:rPr>
              <a:t>0</a:t>
            </a:r>
            <a:r>
              <a:rPr lang="en-US" dirty="0">
                <a:solidFill>
                  <a:schemeClr val="accent1">
                    <a:lumMod val="75000"/>
                  </a:schemeClr>
                </a:solidFill>
              </a:rPr>
              <a:t> and </a:t>
            </a:r>
            <a:r>
              <a:rPr lang="en-US" dirty="0" smtClean="0">
                <a:solidFill>
                  <a:schemeClr val="accent1">
                    <a:lumMod val="75000"/>
                  </a:schemeClr>
                </a:solidFill>
              </a:rPr>
              <a:t>θ</a:t>
            </a:r>
            <a:r>
              <a:rPr lang="en-US" sz="1800" dirty="0" smtClean="0">
                <a:solidFill>
                  <a:schemeClr val="accent1">
                    <a:lumMod val="75000"/>
                  </a:schemeClr>
                </a:solidFill>
              </a:rPr>
              <a:t>1</a:t>
            </a:r>
            <a:r>
              <a:rPr lang="en-US" dirty="0">
                <a:solidFill>
                  <a:schemeClr val="accent1">
                    <a:lumMod val="75000"/>
                  </a:schemeClr>
                </a:solidFill>
              </a:rPr>
              <a:t> are the parameters of the hypothesis. In case of a univariate linear regression, </a:t>
            </a:r>
            <a:r>
              <a:rPr lang="en-US" dirty="0" smtClean="0">
                <a:solidFill>
                  <a:schemeClr val="accent1">
                    <a:lumMod val="75000"/>
                  </a:schemeClr>
                </a:solidFill>
              </a:rPr>
              <a:t>θ</a:t>
            </a:r>
            <a:r>
              <a:rPr lang="en-US" sz="1800" dirty="0" smtClean="0">
                <a:solidFill>
                  <a:schemeClr val="accent1">
                    <a:lumMod val="75000"/>
                  </a:schemeClr>
                </a:solidFill>
              </a:rPr>
              <a:t>0</a:t>
            </a:r>
            <a:r>
              <a:rPr lang="en-US" dirty="0">
                <a:solidFill>
                  <a:schemeClr val="accent1">
                    <a:lumMod val="75000"/>
                  </a:schemeClr>
                </a:solidFill>
              </a:rPr>
              <a:t> is the </a:t>
            </a:r>
            <a:r>
              <a:rPr lang="en-US" b="1" dirty="0">
                <a:solidFill>
                  <a:schemeClr val="accent1">
                    <a:lumMod val="75000"/>
                  </a:schemeClr>
                </a:solidFill>
              </a:rPr>
              <a:t>y-intercept</a:t>
            </a:r>
            <a:r>
              <a:rPr lang="en-US" dirty="0">
                <a:solidFill>
                  <a:schemeClr val="accent1">
                    <a:lumMod val="75000"/>
                  </a:schemeClr>
                </a:solidFill>
              </a:rPr>
              <a:t> and </a:t>
            </a:r>
            <a:r>
              <a:rPr lang="en-US" dirty="0" smtClean="0">
                <a:solidFill>
                  <a:schemeClr val="accent1">
                    <a:lumMod val="75000"/>
                  </a:schemeClr>
                </a:solidFill>
              </a:rPr>
              <a:t>θ</a:t>
            </a:r>
            <a:r>
              <a:rPr lang="en-US" sz="1800" dirty="0" smtClean="0">
                <a:solidFill>
                  <a:schemeClr val="accent1">
                    <a:lumMod val="75000"/>
                  </a:schemeClr>
                </a:solidFill>
              </a:rPr>
              <a:t>1</a:t>
            </a:r>
            <a:r>
              <a:rPr lang="en-US" dirty="0">
                <a:solidFill>
                  <a:schemeClr val="accent1">
                    <a:lumMod val="75000"/>
                  </a:schemeClr>
                </a:solidFill>
              </a:rPr>
              <a:t> is the </a:t>
            </a:r>
            <a:r>
              <a:rPr lang="en-US" b="1" dirty="0">
                <a:solidFill>
                  <a:schemeClr val="accent1">
                    <a:lumMod val="75000"/>
                  </a:schemeClr>
                </a:solidFill>
              </a:rPr>
              <a:t>slope</a:t>
            </a:r>
            <a:r>
              <a:rPr lang="en-US" dirty="0">
                <a:solidFill>
                  <a:schemeClr val="accent1">
                    <a:lumMod val="75000"/>
                  </a:schemeClr>
                </a:solidFill>
              </a:rPr>
              <a:t> of the line.</a:t>
            </a:r>
          </a:p>
          <a:p>
            <a:r>
              <a:rPr lang="en-US" dirty="0">
                <a:solidFill>
                  <a:schemeClr val="accent1">
                    <a:lumMod val="75000"/>
                  </a:schemeClr>
                </a:solidFill>
              </a:rPr>
              <a:t>Different values for these parameters will give different hypothesis function based on the values of slope and intercepts.</a:t>
            </a:r>
          </a:p>
          <a:p>
            <a:pPr marL="0" indent="0">
              <a:buNone/>
            </a:pPr>
            <a:endParaRPr lang="en-US" dirty="0"/>
          </a:p>
        </p:txBody>
      </p:sp>
    </p:spTree>
    <p:extLst>
      <p:ext uri="{BB962C8B-B14F-4D97-AF65-F5344CB8AC3E}">
        <p14:creationId xmlns:p14="http://schemas.microsoft.com/office/powerpoint/2010/main" val="8074129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48286"/>
          </a:xfrm>
        </p:spPr>
        <p:txBody>
          <a:bodyPr/>
          <a:lstStyle/>
          <a:p>
            <a:r>
              <a:rPr lang="en-US" b="1" dirty="0" smtClean="0">
                <a:solidFill>
                  <a:schemeClr val="accent1">
                    <a:lumMod val="50000"/>
                  </a:schemeClr>
                </a:solidFill>
              </a:rPr>
              <a:t>Cost Function</a:t>
            </a:r>
            <a:endParaRPr lang="en-US" dirty="0">
              <a:solidFill>
                <a:schemeClr val="accent1">
                  <a:lumMod val="50000"/>
                </a:schemeClr>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0" y="948287"/>
                <a:ext cx="12192000" cy="5909714"/>
              </a:xfrm>
            </p:spPr>
            <p:txBody>
              <a:bodyPr>
                <a:normAutofit/>
              </a:bodyPr>
              <a:lstStyle/>
              <a:p>
                <a:pPr marL="0" indent="0">
                  <a:buNone/>
                </a:pPr>
                <a:r>
                  <a:rPr lang="en-US" sz="2000" dirty="0" smtClean="0">
                    <a:solidFill>
                      <a:schemeClr val="accent1">
                        <a:lumMod val="75000"/>
                      </a:schemeClr>
                    </a:solidFill>
                  </a:rPr>
                  <a:t>Assume we are given a dataset as plotted by the ‘x’ marks in the plot above. The </a:t>
                </a:r>
                <a:r>
                  <a:rPr lang="en-US" sz="2000" dirty="0">
                    <a:solidFill>
                      <a:schemeClr val="accent1">
                        <a:lumMod val="75000"/>
                      </a:schemeClr>
                    </a:solidFill>
                  </a:rPr>
                  <a:t>aim of the linear regression is to find a line similar to the blue line in the plot above that fits the given set of training example best. </a:t>
                </a:r>
                <a:r>
                  <a:rPr lang="en-US" sz="2000" dirty="0" smtClean="0">
                    <a:solidFill>
                      <a:schemeClr val="accent1">
                        <a:lumMod val="75000"/>
                      </a:schemeClr>
                    </a:solidFill>
                  </a:rPr>
                  <a:t>Internally </a:t>
                </a:r>
                <a:r>
                  <a:rPr lang="en-US" sz="2000" dirty="0">
                    <a:solidFill>
                      <a:schemeClr val="accent1">
                        <a:lumMod val="75000"/>
                      </a:schemeClr>
                    </a:solidFill>
                  </a:rPr>
                  <a:t>this line is a result of the parameters </a:t>
                </a:r>
                <a:r>
                  <a:rPr lang="en-US" sz="2000" dirty="0" smtClean="0">
                    <a:solidFill>
                      <a:schemeClr val="accent1">
                        <a:lumMod val="75000"/>
                      </a:schemeClr>
                    </a:solidFill>
                  </a:rPr>
                  <a:t>θ</a:t>
                </a:r>
                <a:r>
                  <a:rPr lang="en-US" sz="1400" dirty="0" smtClean="0">
                    <a:solidFill>
                      <a:schemeClr val="accent1">
                        <a:lumMod val="75000"/>
                      </a:schemeClr>
                    </a:solidFill>
                  </a:rPr>
                  <a:t>0</a:t>
                </a:r>
                <a:r>
                  <a:rPr lang="en-US" sz="2000" dirty="0">
                    <a:solidFill>
                      <a:schemeClr val="accent1">
                        <a:lumMod val="75000"/>
                      </a:schemeClr>
                    </a:solidFill>
                  </a:rPr>
                  <a:t> and </a:t>
                </a:r>
                <a:r>
                  <a:rPr lang="en-US" sz="2000" dirty="0" smtClean="0">
                    <a:solidFill>
                      <a:schemeClr val="accent1">
                        <a:lumMod val="75000"/>
                      </a:schemeClr>
                    </a:solidFill>
                  </a:rPr>
                  <a:t>θ</a:t>
                </a:r>
                <a:r>
                  <a:rPr lang="en-US" sz="1400" dirty="0" smtClean="0">
                    <a:solidFill>
                      <a:schemeClr val="accent1">
                        <a:lumMod val="75000"/>
                      </a:schemeClr>
                    </a:solidFill>
                  </a:rPr>
                  <a:t>1</a:t>
                </a:r>
                <a:r>
                  <a:rPr lang="en-US" sz="2000" dirty="0" smtClean="0">
                    <a:solidFill>
                      <a:schemeClr val="accent1">
                        <a:lumMod val="75000"/>
                      </a:schemeClr>
                    </a:solidFill>
                  </a:rPr>
                  <a:t>. </a:t>
                </a:r>
                <a:r>
                  <a:rPr lang="en-US" sz="2000" dirty="0">
                    <a:solidFill>
                      <a:schemeClr val="accent1">
                        <a:lumMod val="75000"/>
                      </a:schemeClr>
                    </a:solidFill>
                  </a:rPr>
                  <a:t>So the objective of the learning algorithm is to find the best parameters to fit the dataset i.e. </a:t>
                </a:r>
                <a:r>
                  <a:rPr lang="en-US" sz="2000" b="1" dirty="0">
                    <a:solidFill>
                      <a:schemeClr val="accent1">
                        <a:lumMod val="75000"/>
                      </a:schemeClr>
                    </a:solidFill>
                  </a:rPr>
                  <a:t>choose </a:t>
                </a:r>
                <a:r>
                  <a:rPr lang="en-US" sz="2000" dirty="0" smtClean="0">
                    <a:solidFill>
                      <a:schemeClr val="accent1">
                        <a:lumMod val="75000"/>
                      </a:schemeClr>
                    </a:solidFill>
                  </a:rPr>
                  <a:t>θ</a:t>
                </a:r>
                <a:r>
                  <a:rPr lang="en-US" sz="1400" dirty="0" smtClean="0">
                    <a:solidFill>
                      <a:schemeClr val="accent1">
                        <a:lumMod val="75000"/>
                      </a:schemeClr>
                    </a:solidFill>
                  </a:rPr>
                  <a:t>0</a:t>
                </a:r>
                <a:r>
                  <a:rPr lang="en-US" sz="2000" b="1" dirty="0">
                    <a:solidFill>
                      <a:schemeClr val="accent1">
                        <a:lumMod val="75000"/>
                      </a:schemeClr>
                    </a:solidFill>
                  </a:rPr>
                  <a:t> and </a:t>
                </a:r>
                <a:r>
                  <a:rPr lang="en-US" sz="2000" dirty="0" smtClean="0">
                    <a:solidFill>
                      <a:schemeClr val="accent1">
                        <a:lumMod val="75000"/>
                      </a:schemeClr>
                    </a:solidFill>
                  </a:rPr>
                  <a:t>θ</a:t>
                </a:r>
                <a:r>
                  <a:rPr lang="en-US" sz="1400" dirty="0" smtClean="0">
                    <a:solidFill>
                      <a:schemeClr val="accent1">
                        <a:lumMod val="75000"/>
                      </a:schemeClr>
                    </a:solidFill>
                  </a:rPr>
                  <a:t>1</a:t>
                </a:r>
                <a:r>
                  <a:rPr lang="en-US" sz="2000" b="1" dirty="0">
                    <a:solidFill>
                      <a:schemeClr val="accent1">
                        <a:lumMod val="75000"/>
                      </a:schemeClr>
                    </a:solidFill>
                  </a:rPr>
                  <a:t> so that </a:t>
                </a:r>
                <a:r>
                  <a:rPr lang="en-US" sz="2000" dirty="0" err="1" smtClean="0">
                    <a:solidFill>
                      <a:schemeClr val="accent1">
                        <a:lumMod val="75000"/>
                      </a:schemeClr>
                    </a:solidFill>
                  </a:rPr>
                  <a:t>h</a:t>
                </a:r>
                <a:r>
                  <a:rPr lang="en-US" sz="1600" dirty="0" err="1" smtClean="0">
                    <a:solidFill>
                      <a:schemeClr val="accent1">
                        <a:lumMod val="75000"/>
                      </a:schemeClr>
                    </a:solidFill>
                  </a:rPr>
                  <a:t>θ</a:t>
                </a:r>
                <a:r>
                  <a:rPr lang="en-US" sz="2000" dirty="0" smtClean="0">
                    <a:solidFill>
                      <a:schemeClr val="accent1">
                        <a:lumMod val="75000"/>
                      </a:schemeClr>
                    </a:solidFill>
                  </a:rPr>
                  <a:t>(x)</a:t>
                </a:r>
                <a:r>
                  <a:rPr lang="en-US" sz="2000" b="1" dirty="0">
                    <a:solidFill>
                      <a:schemeClr val="accent1">
                        <a:lumMod val="75000"/>
                      </a:schemeClr>
                    </a:solidFill>
                  </a:rPr>
                  <a:t> is close to y for the training examples (x, y)</a:t>
                </a:r>
                <a:r>
                  <a:rPr lang="en-US" sz="2000" dirty="0">
                    <a:solidFill>
                      <a:schemeClr val="accent1">
                        <a:lumMod val="75000"/>
                      </a:schemeClr>
                    </a:solidFill>
                  </a:rPr>
                  <a:t>. This can be mathematically represented </a:t>
                </a:r>
                <a:r>
                  <a:rPr lang="en-US" sz="2000" dirty="0" smtClean="0">
                    <a:solidFill>
                      <a:schemeClr val="accent1">
                        <a:lumMod val="75000"/>
                      </a:schemeClr>
                    </a:solidFill>
                  </a:rPr>
                  <a:t>as:</a:t>
                </a:r>
              </a:p>
              <a:p>
                <a:pPr marL="0" indent="0">
                  <a:buNone/>
                </a:pPr>
                <a:endParaRPr lang="en-US" sz="2000" dirty="0" smtClean="0">
                  <a:solidFill>
                    <a:schemeClr val="accent1">
                      <a:lumMod val="75000"/>
                    </a:schemeClr>
                  </a:solidFill>
                </a:endParaRPr>
              </a:p>
              <a:p>
                <a:pPr marL="0" indent="0">
                  <a:buNone/>
                </a:pPr>
                <a:endParaRPr lang="en-US" dirty="0" smtClean="0"/>
              </a:p>
              <a:p>
                <a:pPr marL="0" indent="0">
                  <a:buNone/>
                </a:pP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Where:</a:t>
                </a:r>
              </a:p>
              <a:p>
                <a:r>
                  <a:rPr lang="en-US" sz="1800" dirty="0" err="1" smtClean="0">
                    <a:solidFill>
                      <a:schemeClr val="accent1">
                        <a:lumMod val="75000"/>
                      </a:schemeClr>
                    </a:solidFill>
                    <a:latin typeface="Times New Roman" panose="02020603050405020304" pitchFamily="18" charset="0"/>
                    <a:cs typeface="Times New Roman" panose="02020603050405020304" pitchFamily="18" charset="0"/>
                  </a:rPr>
                  <a:t>h</a:t>
                </a:r>
                <a:r>
                  <a:rPr lang="en-US" sz="1400" dirty="0" err="1" smtClean="0">
                    <a:solidFill>
                      <a:schemeClr val="accent1">
                        <a:lumMod val="75000"/>
                      </a:schemeClr>
                    </a:solidFill>
                    <a:latin typeface="Times New Roman" panose="02020603050405020304" pitchFamily="18" charset="0"/>
                    <a:cs typeface="Times New Roman" panose="02020603050405020304" pitchFamily="18" charset="0"/>
                  </a:rPr>
                  <a:t>θ</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(xi) = θ</a:t>
                </a:r>
                <a:r>
                  <a:rPr lang="en-US" sz="1400" dirty="0" smtClean="0">
                    <a:solidFill>
                      <a:schemeClr val="accent1">
                        <a:lumMod val="75000"/>
                      </a:schemeClr>
                    </a:solidFill>
                    <a:latin typeface="Times New Roman" panose="02020603050405020304" pitchFamily="18" charset="0"/>
                    <a:cs typeface="Times New Roman" panose="02020603050405020304" pitchFamily="18" charset="0"/>
                  </a:rPr>
                  <a:t>0</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 + θ</a:t>
                </a:r>
                <a:r>
                  <a:rPr lang="en-US" sz="1400" dirty="0" smtClean="0">
                    <a:solidFill>
                      <a:schemeClr val="accent1">
                        <a:lumMod val="75000"/>
                      </a:schemeClr>
                    </a:solidFill>
                    <a:latin typeface="Times New Roman" panose="02020603050405020304" pitchFamily="18" charset="0"/>
                    <a:cs typeface="Times New Roman" panose="02020603050405020304" pitchFamily="18" charset="0"/>
                  </a:rPr>
                  <a:t>1</a:t>
                </a:r>
                <a:r>
                  <a:rPr lang="en-US" sz="1800" dirty="0">
                    <a:solidFill>
                      <a:schemeClr val="accent1">
                        <a:lumMod val="75000"/>
                      </a:schemeClr>
                    </a:solidFill>
                    <a:latin typeface="Times New Roman" panose="02020603050405020304" pitchFamily="18" charset="0"/>
                    <a:cs typeface="Times New Roman" panose="02020603050405020304" pitchFamily="18" charset="0"/>
                  </a:rPr>
                  <a:t>X</a:t>
                </a:r>
                <a:r>
                  <a:rPr lang="en-US" sz="1400" dirty="0" smtClean="0">
                    <a:solidFill>
                      <a:schemeClr val="accent1">
                        <a:lumMod val="75000"/>
                      </a:schemeClr>
                    </a:solidFill>
                    <a:latin typeface="Times New Roman" panose="02020603050405020304" pitchFamily="18" charset="0"/>
                    <a:cs typeface="Times New Roman" panose="02020603050405020304" pitchFamily="18" charset="0"/>
                  </a:rPr>
                  <a:t>i</a:t>
                </a:r>
                <a:endParaRPr lang="en-US" sz="1400" dirty="0">
                  <a:solidFill>
                    <a:schemeClr val="accent1">
                      <a:lumMod val="75000"/>
                    </a:schemeClr>
                  </a:solidFill>
                  <a:latin typeface="Times New Roman" panose="02020603050405020304" pitchFamily="18" charset="0"/>
                  <a:cs typeface="Times New Roman" panose="02020603050405020304" pitchFamily="18" charset="0"/>
                </a:endParaRPr>
              </a:p>
              <a:p>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a:t>
                </a:r>
                <a:r>
                  <a:rPr lang="en-US" sz="1800" dirty="0" err="1" smtClean="0">
                    <a:solidFill>
                      <a:schemeClr val="accent1">
                        <a:lumMod val="75000"/>
                      </a:schemeClr>
                    </a:solidFill>
                    <a:latin typeface="Times New Roman" panose="02020603050405020304" pitchFamily="18" charset="0"/>
                    <a:cs typeface="Times New Roman" panose="02020603050405020304" pitchFamily="18" charset="0"/>
                  </a:rPr>
                  <a:t>x</a:t>
                </a:r>
                <a:r>
                  <a:rPr lang="en-US" sz="1400" dirty="0" err="1" smtClean="0">
                    <a:solidFill>
                      <a:schemeClr val="accent1">
                        <a:lumMod val="75000"/>
                      </a:schemeClr>
                    </a:solidFill>
                    <a:latin typeface="Times New Roman" panose="02020603050405020304" pitchFamily="18" charset="0"/>
                    <a:cs typeface="Times New Roman" panose="02020603050405020304" pitchFamily="18" charset="0"/>
                  </a:rPr>
                  <a:t>i</a:t>
                </a:r>
                <a:r>
                  <a:rPr lang="en-US" sz="1800" dirty="0" err="1" smtClean="0">
                    <a:solidFill>
                      <a:schemeClr val="accent1">
                        <a:lumMod val="75000"/>
                      </a:schemeClr>
                    </a:solidFill>
                    <a:latin typeface="Times New Roman" panose="02020603050405020304" pitchFamily="18" charset="0"/>
                    <a:cs typeface="Times New Roman" panose="02020603050405020304" pitchFamily="18" charset="0"/>
                  </a:rPr>
                  <a:t>,y</a:t>
                </a:r>
                <a:r>
                  <a:rPr lang="en-US" sz="1400" dirty="0" err="1" smtClean="0">
                    <a:solidFill>
                      <a:schemeClr val="accent1">
                        <a:lumMod val="75000"/>
                      </a:schemeClr>
                    </a:solidFill>
                    <a:latin typeface="Times New Roman" panose="02020603050405020304" pitchFamily="18" charset="0"/>
                    <a:cs typeface="Times New Roman" panose="02020603050405020304" pitchFamily="18" charset="0"/>
                  </a:rPr>
                  <a:t>i</a:t>
                </a:r>
                <a:r>
                  <a:rPr lang="en-US" sz="1800" dirty="0" smtClean="0">
                    <a:solidFill>
                      <a:schemeClr val="accent1">
                        <a:lumMod val="75000"/>
                      </a:schemeClr>
                    </a:solidFill>
                    <a:latin typeface="Times New Roman" panose="02020603050405020304" pitchFamily="18" charset="0"/>
                    <a:cs typeface="Times New Roman" panose="02020603050405020304" pitchFamily="18" charset="0"/>
                  </a:rPr>
                  <a:t>)</a:t>
                </a:r>
                <a:r>
                  <a:rPr lang="en-US" sz="1800" dirty="0">
                    <a:solidFill>
                      <a:schemeClr val="accent1">
                        <a:lumMod val="75000"/>
                      </a:schemeClr>
                    </a:solidFill>
                    <a:latin typeface="Times New Roman" panose="02020603050405020304" pitchFamily="18" charset="0"/>
                    <a:cs typeface="Times New Roman" panose="02020603050405020304" pitchFamily="18" charset="0"/>
                  </a:rPr>
                  <a:t> is the </a:t>
                </a:r>
                <a14:m>
                  <m:oMath xmlns:m="http://schemas.openxmlformats.org/officeDocument/2006/math">
                    <m:sSup>
                      <m:sSupPr>
                        <m:ctrlPr>
                          <a:rPr lang="en-US" sz="1800" i="1" smtClean="0">
                            <a:solidFill>
                              <a:schemeClr val="accent1">
                                <a:lumMod val="75000"/>
                              </a:schemeClr>
                            </a:solidFill>
                            <a:latin typeface="Cambria Math" panose="02040503050406030204" pitchFamily="18" charset="0"/>
                          </a:rPr>
                        </m:ctrlPr>
                      </m:sSupPr>
                      <m:e>
                        <m:r>
                          <a:rPr lang="en-US" sz="1800" b="0" i="1" smtClean="0">
                            <a:solidFill>
                              <a:schemeClr val="accent1">
                                <a:lumMod val="75000"/>
                              </a:schemeClr>
                            </a:solidFill>
                            <a:latin typeface="Cambria Math" panose="02040503050406030204" pitchFamily="18" charset="0"/>
                          </a:rPr>
                          <m:t>𝑖</m:t>
                        </m:r>
                      </m:e>
                      <m:sup>
                        <m:r>
                          <a:rPr lang="en-US" sz="1800" b="0" i="1" smtClean="0">
                            <a:solidFill>
                              <a:schemeClr val="accent1">
                                <a:lumMod val="75000"/>
                              </a:schemeClr>
                            </a:solidFill>
                            <a:latin typeface="Cambria Math" panose="02040503050406030204" pitchFamily="18" charset="0"/>
                          </a:rPr>
                          <m:t>𝑡h</m:t>
                        </m:r>
                      </m:sup>
                    </m:sSup>
                  </m:oMath>
                </a14:m>
                <a:r>
                  <a:rPr lang="en-US" sz="1800" dirty="0">
                    <a:solidFill>
                      <a:schemeClr val="accent1">
                        <a:lumMod val="75000"/>
                      </a:schemeClr>
                    </a:solidFill>
                    <a:latin typeface="Times New Roman" panose="02020603050405020304" pitchFamily="18" charset="0"/>
                    <a:cs typeface="Times New Roman" panose="02020603050405020304" pitchFamily="18" charset="0"/>
                  </a:rPr>
                  <a:t> training data</a:t>
                </a:r>
              </a:p>
              <a:p>
                <a:r>
                  <a:rPr lang="en-US" sz="1800" dirty="0">
                    <a:solidFill>
                      <a:schemeClr val="accent1">
                        <a:lumMod val="75000"/>
                      </a:schemeClr>
                    </a:solidFill>
                    <a:latin typeface="Times New Roman" panose="02020603050405020304" pitchFamily="18" charset="0"/>
                    <a:cs typeface="Times New Roman" panose="02020603050405020304" pitchFamily="18" charset="0"/>
                  </a:rPr>
                  <a:t>m is the number of training example</a:t>
                </a:r>
              </a:p>
              <a:p>
                <a14:m>
                  <m:oMath xmlns:m="http://schemas.openxmlformats.org/officeDocument/2006/math">
                    <m:f>
                      <m:fPr>
                        <m:ctrlPr>
                          <a:rPr lang="en-US" sz="1800" i="1" smtClean="0">
                            <a:solidFill>
                              <a:schemeClr val="accent1">
                                <a:lumMod val="75000"/>
                              </a:schemeClr>
                            </a:solidFill>
                            <a:latin typeface="Cambria Math" panose="02040503050406030204" pitchFamily="18" charset="0"/>
                          </a:rPr>
                        </m:ctrlPr>
                      </m:fPr>
                      <m:num>
                        <m:r>
                          <a:rPr lang="en-US" sz="1800" b="0" i="1" smtClean="0">
                            <a:solidFill>
                              <a:schemeClr val="accent1">
                                <a:lumMod val="75000"/>
                              </a:schemeClr>
                            </a:solidFill>
                            <a:latin typeface="Cambria Math" panose="02040503050406030204" pitchFamily="18" charset="0"/>
                          </a:rPr>
                          <m:t>1</m:t>
                        </m:r>
                      </m:num>
                      <m:den>
                        <m:r>
                          <a:rPr lang="en-US" sz="1800" b="0" i="1" smtClean="0">
                            <a:solidFill>
                              <a:schemeClr val="accent1">
                                <a:lumMod val="75000"/>
                              </a:schemeClr>
                            </a:solidFill>
                            <a:latin typeface="Cambria Math" panose="02040503050406030204" pitchFamily="18" charset="0"/>
                          </a:rPr>
                          <m:t>2</m:t>
                        </m:r>
                      </m:den>
                    </m:f>
                  </m:oMath>
                </a14:m>
                <a:r>
                  <a:rPr lang="en-US" sz="1800" dirty="0">
                    <a:solidFill>
                      <a:schemeClr val="accent1">
                        <a:lumMod val="75000"/>
                      </a:schemeClr>
                    </a:solidFill>
                    <a:latin typeface="Times New Roman" panose="02020603050405020304" pitchFamily="18" charset="0"/>
                    <a:cs typeface="Times New Roman" panose="02020603050405020304" pitchFamily="18" charset="0"/>
                  </a:rPr>
                  <a:t> is a constant that helps cancel 2 in derivative of the function when doing calculations for gradient descent</a:t>
                </a:r>
              </a:p>
              <a:p>
                <a:pPr marL="0" indent="0">
                  <a:buNone/>
                </a:pPr>
                <a:r>
                  <a:rPr lang="en-US" sz="2400" dirty="0">
                    <a:solidFill>
                      <a:schemeClr val="accent1">
                        <a:lumMod val="75000"/>
                      </a:schemeClr>
                    </a:solidFill>
                    <a:latin typeface="Times New Roman" panose="02020603050405020304" pitchFamily="18" charset="0"/>
                    <a:cs typeface="Times New Roman" panose="02020603050405020304" pitchFamily="18" charset="0"/>
                  </a:rPr>
                  <a:t>So, </a:t>
                </a:r>
                <a:r>
                  <a:rPr lang="en-US" sz="2400" b="1" dirty="0">
                    <a:solidFill>
                      <a:schemeClr val="accent1">
                        <a:lumMod val="75000"/>
                      </a:schemeClr>
                    </a:solidFill>
                    <a:latin typeface="Times New Roman" panose="02020603050405020304" pitchFamily="18" charset="0"/>
                    <a:cs typeface="Times New Roman" panose="02020603050405020304" pitchFamily="18" charset="0"/>
                  </a:rPr>
                  <a:t>cost function</a:t>
                </a:r>
                <a:r>
                  <a:rPr lang="en-US" sz="2400" dirty="0">
                    <a:solidFill>
                      <a:schemeClr val="accent1">
                        <a:lumMod val="75000"/>
                      </a:schemeClr>
                    </a:solidFill>
                    <a:latin typeface="Times New Roman" panose="02020603050405020304" pitchFamily="18" charset="0"/>
                    <a:cs typeface="Times New Roman" panose="02020603050405020304" pitchFamily="18" charset="0"/>
                  </a:rPr>
                  <a:t> is defined as </a:t>
                </a:r>
                <a:r>
                  <a:rPr lang="en-US" sz="2400" dirty="0" smtClean="0">
                    <a:solidFill>
                      <a:schemeClr val="accent1">
                        <a:lumMod val="75000"/>
                      </a:schemeClr>
                    </a:solidFill>
                    <a:latin typeface="Times New Roman" panose="02020603050405020304" pitchFamily="18" charset="0"/>
                    <a:cs typeface="Times New Roman" panose="02020603050405020304" pitchFamily="18" charset="0"/>
                  </a:rPr>
                  <a:t>follows:</a:t>
                </a:r>
              </a:p>
              <a:p>
                <a:pPr marL="0" indent="0">
                  <a:buNone/>
                </a:pP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0" y="948287"/>
                <a:ext cx="12192000" cy="5909714"/>
              </a:xfrm>
              <a:blipFill>
                <a:blip r:embed="rId2"/>
                <a:stretch>
                  <a:fillRect l="-750" t="-1135" r="-600"/>
                </a:stretch>
              </a:blipFill>
            </p:spPr>
            <p:txBody>
              <a:bodyPr/>
              <a:lstStyle/>
              <a:p>
                <a:r>
                  <a:rPr lang="en-US">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987" y="2570526"/>
            <a:ext cx="4788130" cy="806335"/>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09495" y="5805436"/>
            <a:ext cx="5973009" cy="733527"/>
          </a:xfrm>
          <a:prstGeom prst="rect">
            <a:avLst/>
          </a:prstGeom>
        </p:spPr>
      </p:pic>
      <p:pic>
        <p:nvPicPr>
          <p:cNvPr id="6" name="Picture 5"/>
          <p:cNvPicPr>
            <a:picLocks noChangeAspect="1"/>
          </p:cNvPicPr>
          <p:nvPr/>
        </p:nvPicPr>
        <p:blipFill>
          <a:blip r:embed="rId5"/>
          <a:stretch>
            <a:fillRect/>
          </a:stretch>
        </p:blipFill>
        <p:spPr>
          <a:xfrm>
            <a:off x="5279117" y="2161309"/>
            <a:ext cx="6667926" cy="2809702"/>
          </a:xfrm>
          <a:prstGeom prst="rect">
            <a:avLst/>
          </a:prstGeom>
        </p:spPr>
      </p:pic>
    </p:spTree>
    <p:extLst>
      <p:ext uri="{BB962C8B-B14F-4D97-AF65-F5344CB8AC3E}">
        <p14:creationId xmlns:p14="http://schemas.microsoft.com/office/powerpoint/2010/main" val="17980766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15035"/>
          </a:xfrm>
        </p:spPr>
        <p:txBody>
          <a:bodyPr>
            <a:normAutofit/>
          </a:bodyPr>
          <a:lstStyle/>
          <a:p>
            <a:pPr lvl="0">
              <a:lnSpc>
                <a:spcPct val="100000"/>
              </a:lnSpc>
              <a:spcBef>
                <a:spcPts val="0"/>
              </a:spcBef>
            </a:pPr>
            <a:r>
              <a:rPr lang="en-GB" sz="3200" b="1" dirty="0">
                <a:solidFill>
                  <a:schemeClr val="accent1">
                    <a:lumMod val="50000"/>
                  </a:schemeClr>
                </a:solidFill>
                <a:latin typeface="Arial"/>
                <a:ea typeface="Arial"/>
                <a:cs typeface="Arial"/>
                <a:sym typeface="Arial"/>
              </a:rPr>
              <a:t>Types of Cost function</a:t>
            </a:r>
            <a:endParaRPr lang="en-GB" sz="3200" b="1" dirty="0">
              <a:solidFill>
                <a:schemeClr val="accent1">
                  <a:lumMod val="50000"/>
                </a:schemeClr>
              </a:solidFill>
              <a:latin typeface="Arial"/>
              <a:ea typeface="Arial"/>
              <a:cs typeface="Arial"/>
              <a:sym typeface="Arial"/>
            </a:endParaRPr>
          </a:p>
        </p:txBody>
      </p:sp>
      <p:sp>
        <p:nvSpPr>
          <p:cNvPr id="3" name="Content Placeholder 2"/>
          <p:cNvSpPr>
            <a:spLocks noGrp="1"/>
          </p:cNvSpPr>
          <p:nvPr>
            <p:ph idx="1"/>
          </p:nvPr>
        </p:nvSpPr>
        <p:spPr>
          <a:xfrm>
            <a:off x="0" y="915034"/>
            <a:ext cx="12192000" cy="5942965"/>
          </a:xfrm>
        </p:spPr>
        <p:txBody>
          <a:bodyPr>
            <a:normAutofit/>
          </a:bodyPr>
          <a:lstStyle/>
          <a:p>
            <a:pPr marL="0" indent="0">
              <a:buNone/>
            </a:pPr>
            <a:r>
              <a:rPr lang="en-US" sz="2500" dirty="0">
                <a:solidFill>
                  <a:schemeClr val="accent1">
                    <a:lumMod val="75000"/>
                  </a:schemeClr>
                </a:solidFill>
                <a:latin typeface="Times New Roman" panose="02020603050405020304" pitchFamily="18" charset="0"/>
                <a:cs typeface="Times New Roman" panose="02020603050405020304" pitchFamily="18" charset="0"/>
              </a:rPr>
              <a:t>This cost function is also called the </a:t>
            </a:r>
            <a:r>
              <a:rPr lang="en-US" sz="2500" b="1" dirty="0">
                <a:solidFill>
                  <a:schemeClr val="accent1">
                    <a:lumMod val="75000"/>
                  </a:schemeClr>
                </a:solidFill>
                <a:latin typeface="Times New Roman" panose="02020603050405020304" pitchFamily="18" charset="0"/>
                <a:cs typeface="Times New Roman" panose="02020603050405020304" pitchFamily="18" charset="0"/>
              </a:rPr>
              <a:t>squared error function</a:t>
            </a:r>
            <a:r>
              <a:rPr lang="en-US" sz="2500" dirty="0">
                <a:solidFill>
                  <a:schemeClr val="accent1">
                    <a:lumMod val="75000"/>
                  </a:schemeClr>
                </a:solidFill>
                <a:latin typeface="Times New Roman" panose="02020603050405020304" pitchFamily="18" charset="0"/>
                <a:cs typeface="Times New Roman" panose="02020603050405020304" pitchFamily="18" charset="0"/>
              </a:rPr>
              <a:t> because of obvious reasons. It is the most commonly used cost function for linear regression as it is simple and performs well</a:t>
            </a:r>
            <a:r>
              <a:rPr lang="en-US" sz="2500" dirty="0" smtClean="0">
                <a:solidFill>
                  <a:schemeClr val="accent1">
                    <a:lumMod val="75000"/>
                  </a:schemeClr>
                </a:solidFill>
                <a:latin typeface="Times New Roman" panose="02020603050405020304" pitchFamily="18" charset="0"/>
                <a:cs typeface="Times New Roman" panose="02020603050405020304" pitchFamily="18" charset="0"/>
              </a:rPr>
              <a:t>.</a:t>
            </a:r>
          </a:p>
          <a:p>
            <a:pPr marL="0" indent="0">
              <a:buNone/>
            </a:pPr>
            <a:endParaRPr lang="en-US" sz="2500" dirty="0">
              <a:solidFill>
                <a:schemeClr val="accent1">
                  <a:lumMod val="7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2400" b="1" i="1" dirty="0">
                <a:solidFill>
                  <a:schemeClr val="accent1">
                    <a:lumMod val="50000"/>
                  </a:schemeClr>
                </a:solidFill>
                <a:latin typeface="Times New Roman" panose="02020603050405020304" pitchFamily="18" charset="0"/>
                <a:ea typeface="Arial"/>
                <a:cs typeface="Times New Roman" panose="02020603050405020304" pitchFamily="18" charset="0"/>
                <a:sym typeface="Arial"/>
              </a:rPr>
              <a:t>Mean Squared Error(MSE</a:t>
            </a:r>
            <a:r>
              <a:rPr lang="en-GB" sz="2400" b="1" i="1" dirty="0" smtClean="0">
                <a:solidFill>
                  <a:schemeClr val="accent1">
                    <a:lumMod val="50000"/>
                  </a:schemeClr>
                </a:solidFill>
                <a:latin typeface="Times New Roman" panose="02020603050405020304" pitchFamily="18" charset="0"/>
                <a:ea typeface="Arial"/>
                <a:cs typeface="Times New Roman" panose="02020603050405020304" pitchFamily="18" charset="0"/>
                <a:sym typeface="Arial"/>
              </a:rPr>
              <a:t>):</a:t>
            </a:r>
            <a:endParaRPr lang="en-GB" sz="2400" b="1" i="1" dirty="0">
              <a:solidFill>
                <a:schemeClr val="accent1">
                  <a:lumMod val="50000"/>
                </a:schemeClr>
              </a:solidFill>
              <a:latin typeface="Times New Roman" panose="02020603050405020304" pitchFamily="18" charset="0"/>
              <a:ea typeface="Arial"/>
              <a:cs typeface="Times New Roman" panose="02020603050405020304" pitchFamily="18" charset="0"/>
              <a:sym typeface="Arial"/>
            </a:endParaRPr>
          </a:p>
          <a:p>
            <a:pPr marL="0" indent="0">
              <a:buNone/>
            </a:pPr>
            <a:endParaRPr lang="en-US" sz="2400" b="1" i="1" dirty="0" smtClean="0">
              <a:solidFill>
                <a:schemeClr val="accent1">
                  <a:lumMod val="50000"/>
                </a:schemeClr>
              </a:solidFill>
              <a:latin typeface="Times New Roman" panose="02020603050405020304" pitchFamily="18" charset="0"/>
              <a:cs typeface="Times New Roman" panose="02020603050405020304" pitchFamily="18" charset="0"/>
              <a:sym typeface="Arial"/>
            </a:endParaRPr>
          </a:p>
          <a:p>
            <a:pPr marL="0" indent="0">
              <a:buNone/>
            </a:pPr>
            <a:endParaRPr lang="en-US" sz="2400" b="1" i="1" dirty="0" smtClean="0">
              <a:solidFill>
                <a:schemeClr val="accent1">
                  <a:lumMod val="50000"/>
                </a:schemeClr>
              </a:solidFill>
              <a:latin typeface="Times New Roman" panose="02020603050405020304" pitchFamily="18" charset="0"/>
              <a:cs typeface="Times New Roman" panose="02020603050405020304" pitchFamily="18" charset="0"/>
              <a:sym typeface="Arial"/>
            </a:endParaRPr>
          </a:p>
          <a:p>
            <a:pPr marL="0" indent="0">
              <a:buNone/>
            </a:pPr>
            <a:endParaRPr lang="en-US" sz="2400" b="1" i="1" dirty="0" smtClean="0">
              <a:solidFill>
                <a:schemeClr val="accent1">
                  <a:lumMod val="50000"/>
                </a:schemeClr>
              </a:solidFill>
              <a:latin typeface="Times New Roman" panose="02020603050405020304" pitchFamily="18" charset="0"/>
              <a:cs typeface="Times New Roman" panose="02020603050405020304" pitchFamily="18" charset="0"/>
              <a:sym typeface="Arial"/>
            </a:endParaRPr>
          </a:p>
          <a:p>
            <a:pPr marL="0" indent="0">
              <a:buNone/>
            </a:pPr>
            <a:endParaRPr lang="en-US" sz="2400" b="1" i="1" dirty="0">
              <a:solidFill>
                <a:schemeClr val="accent1">
                  <a:lumMod val="50000"/>
                </a:schemeClr>
              </a:solidFill>
              <a:latin typeface="Times New Roman" panose="02020603050405020304" pitchFamily="18" charset="0"/>
              <a:cs typeface="Times New Roman" panose="02020603050405020304" pitchFamily="18" charset="0"/>
              <a:sym typeface="Arial"/>
            </a:endParaRPr>
          </a:p>
          <a:p>
            <a:pPr>
              <a:buFont typeface="Wingdings" panose="05000000000000000000" pitchFamily="2" charset="2"/>
              <a:buChar char="Ø"/>
            </a:pPr>
            <a:r>
              <a:rPr lang="en-GB" sz="2400" b="1" i="1" dirty="0">
                <a:solidFill>
                  <a:schemeClr val="accent1">
                    <a:lumMod val="50000"/>
                  </a:schemeClr>
                </a:solidFill>
                <a:latin typeface="Times New Roman" panose="02020603050405020304" pitchFamily="18" charset="0"/>
                <a:ea typeface="Arial"/>
                <a:cs typeface="Times New Roman" panose="02020603050405020304" pitchFamily="18" charset="0"/>
                <a:sym typeface="Arial"/>
              </a:rPr>
              <a:t>Mean Absolute Error(MAE)</a:t>
            </a:r>
            <a:r>
              <a:rPr lang="en-US" sz="2400" b="1" i="1" dirty="0">
                <a:solidFill>
                  <a:schemeClr val="accent1">
                    <a:lumMod val="50000"/>
                  </a:schemeClr>
                </a:solidFill>
                <a:latin typeface="Times New Roman" panose="02020603050405020304" pitchFamily="18" charset="0"/>
                <a:ea typeface="Arial"/>
                <a:cs typeface="Times New Roman" panose="02020603050405020304" pitchFamily="18" charset="0"/>
                <a:sym typeface="Arial"/>
              </a:rPr>
              <a:t>:</a:t>
            </a:r>
            <a:endParaRPr lang="en-GB" sz="2400" b="1" i="1" dirty="0">
              <a:solidFill>
                <a:schemeClr val="accent1">
                  <a:lumMod val="50000"/>
                </a:schemeClr>
              </a:solidFill>
              <a:latin typeface="Times New Roman" panose="02020603050405020304" pitchFamily="18" charset="0"/>
              <a:ea typeface="Arial"/>
              <a:cs typeface="Times New Roman" panose="02020603050405020304" pitchFamily="18" charset="0"/>
              <a:sym typeface="Arial"/>
            </a:endParaRPr>
          </a:p>
        </p:txBody>
      </p:sp>
      <p:pic>
        <p:nvPicPr>
          <p:cNvPr id="5" name="Google Shape;751;p32"/>
          <p:cNvPicPr preferRelativeResize="0"/>
          <p:nvPr/>
        </p:nvPicPr>
        <p:blipFill rotWithShape="1">
          <a:blip r:embed="rId2">
            <a:alphaModFix/>
          </a:blip>
          <a:srcRect/>
          <a:stretch/>
        </p:blipFill>
        <p:spPr>
          <a:xfrm rot="22200">
            <a:off x="5253441" y="2335339"/>
            <a:ext cx="6935026" cy="4541877"/>
          </a:xfrm>
          <a:prstGeom prst="rect">
            <a:avLst/>
          </a:prstGeom>
          <a:noFill/>
          <a:ln>
            <a:noFill/>
          </a:ln>
        </p:spPr>
      </p:pic>
      <p:pic>
        <p:nvPicPr>
          <p:cNvPr id="6" name="Picture 5"/>
          <p:cNvPicPr>
            <a:picLocks noChangeAspect="1"/>
          </p:cNvPicPr>
          <p:nvPr/>
        </p:nvPicPr>
        <p:blipFill>
          <a:blip r:embed="rId3"/>
          <a:stretch>
            <a:fillRect/>
          </a:stretch>
        </p:blipFill>
        <p:spPr>
          <a:xfrm>
            <a:off x="1271490" y="2929653"/>
            <a:ext cx="3871296" cy="1125590"/>
          </a:xfrm>
          <a:prstGeom prst="rect">
            <a:avLst/>
          </a:prstGeom>
        </p:spPr>
      </p:pic>
      <p:pic>
        <p:nvPicPr>
          <p:cNvPr id="7" name="Picture 6"/>
          <p:cNvPicPr>
            <a:picLocks noChangeAspect="1"/>
          </p:cNvPicPr>
          <p:nvPr/>
        </p:nvPicPr>
        <p:blipFill>
          <a:blip r:embed="rId4"/>
          <a:stretch>
            <a:fillRect/>
          </a:stretch>
        </p:blipFill>
        <p:spPr>
          <a:xfrm>
            <a:off x="1282550" y="5108826"/>
            <a:ext cx="3956298" cy="1275348"/>
          </a:xfrm>
          <a:prstGeom prst="rect">
            <a:avLst/>
          </a:prstGeom>
        </p:spPr>
      </p:pic>
    </p:spTree>
    <p:extLst>
      <p:ext uri="{BB962C8B-B14F-4D97-AF65-F5344CB8AC3E}">
        <p14:creationId xmlns:p14="http://schemas.microsoft.com/office/powerpoint/2010/main" val="19593754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9324" y="0"/>
            <a:ext cx="7212676" cy="1130531"/>
          </a:xfrm>
        </p:spPr>
        <p:txBody>
          <a:bodyPr>
            <a:normAutofit/>
          </a:bodyPr>
          <a:lstStyle/>
          <a:p>
            <a:pPr algn="ctr"/>
            <a:r>
              <a:rPr lang="en-US" sz="4800" b="1" dirty="0" smtClean="0">
                <a:solidFill>
                  <a:schemeClr val="accent1">
                    <a:lumMod val="50000"/>
                  </a:schemeClr>
                </a:solidFill>
              </a:rPr>
              <a:t>Gradient Descent</a:t>
            </a:r>
            <a:endParaRPr lang="en-US" sz="4800" dirty="0">
              <a:solidFill>
                <a:schemeClr val="accent1">
                  <a:lumMod val="50000"/>
                </a:schemeClr>
              </a:solidFill>
            </a:endParaRPr>
          </a:p>
        </p:txBody>
      </p:sp>
      <p:sp>
        <p:nvSpPr>
          <p:cNvPr id="3" name="Content Placeholder 2"/>
          <p:cNvSpPr>
            <a:spLocks noGrp="1"/>
          </p:cNvSpPr>
          <p:nvPr>
            <p:ph idx="1"/>
          </p:nvPr>
        </p:nvSpPr>
        <p:spPr>
          <a:xfrm>
            <a:off x="4979324" y="1130530"/>
            <a:ext cx="7212676" cy="5727469"/>
          </a:xfrm>
        </p:spPr>
        <p:txBody>
          <a:bodyPr>
            <a:normAutofit/>
          </a:bodyPr>
          <a:lstStyle/>
          <a:p>
            <a:pPr marL="0" indent="0">
              <a:buNone/>
            </a:pPr>
            <a:r>
              <a:rPr lang="en-US" sz="1600" dirty="0">
                <a:solidFill>
                  <a:schemeClr val="accent1">
                    <a:lumMod val="75000"/>
                  </a:schemeClr>
                </a:solidFill>
                <a:latin typeface="Times New Roman" panose="02020603050405020304" pitchFamily="18" charset="0"/>
                <a:cs typeface="Times New Roman" panose="02020603050405020304" pitchFamily="18" charset="0"/>
              </a:rPr>
              <a:t>To minimize MSE we use </a:t>
            </a:r>
            <a:r>
              <a:rPr lang="en-US" sz="1600" dirty="0" smtClean="0">
                <a:solidFill>
                  <a:schemeClr val="accent1">
                    <a:lumMod val="75000"/>
                  </a:schemeClr>
                </a:solidFill>
                <a:latin typeface="Times New Roman" panose="02020603050405020304" pitchFamily="18" charset="0"/>
                <a:cs typeface="Times New Roman" panose="02020603050405020304" pitchFamily="18" charset="0"/>
              </a:rPr>
              <a:t>Gradient Descent</a:t>
            </a:r>
            <a:r>
              <a:rPr lang="en-US" sz="1600" dirty="0">
                <a:solidFill>
                  <a:schemeClr val="accent1">
                    <a:lumMod val="75000"/>
                  </a:schemeClr>
                </a:solidFill>
                <a:latin typeface="Times New Roman" panose="02020603050405020304" pitchFamily="18" charset="0"/>
                <a:cs typeface="Times New Roman" panose="02020603050405020304" pitchFamily="18" charset="0"/>
              </a:rPr>
              <a:t> to calculate the gradient of our cost function. Gradient descent consists of looking at the error that our weight currently gives us, using the derivative of the cost function to find the gradient (The slope of the cost function using our current weight), and then changing our weight to move in the direction opposite of the gradient. We need to move in the opposite direction of the gradient since the gradient points up the slope instead of down it, </a:t>
            </a:r>
            <a:r>
              <a:rPr lang="en-US" sz="1600" dirty="0" smtClean="0">
                <a:solidFill>
                  <a:schemeClr val="accent1">
                    <a:lumMod val="75000"/>
                  </a:schemeClr>
                </a:solidFill>
                <a:latin typeface="Times New Roman" panose="02020603050405020304" pitchFamily="18" charset="0"/>
                <a:cs typeface="Times New Roman" panose="02020603050405020304" pitchFamily="18" charset="0"/>
              </a:rPr>
              <a:t>so </a:t>
            </a:r>
            <a:r>
              <a:rPr lang="en-US" sz="1600" dirty="0">
                <a:solidFill>
                  <a:schemeClr val="accent1">
                    <a:lumMod val="75000"/>
                  </a:schemeClr>
                </a:solidFill>
                <a:latin typeface="Times New Roman" panose="02020603050405020304" pitchFamily="18" charset="0"/>
                <a:cs typeface="Times New Roman" panose="02020603050405020304" pitchFamily="18" charset="0"/>
              </a:rPr>
              <a:t>we move in the opposite direction to try to decrease our error</a:t>
            </a:r>
            <a:r>
              <a:rPr lang="en-US" sz="1600" dirty="0" smtClean="0">
                <a:solidFill>
                  <a:schemeClr val="accent1">
                    <a:lumMod val="75000"/>
                  </a:schemeClr>
                </a:solidFill>
                <a:latin typeface="Times New Roman" panose="02020603050405020304" pitchFamily="18" charset="0"/>
                <a:cs typeface="Times New Roman" panose="02020603050405020304" pitchFamily="18" charset="0"/>
              </a:rPr>
              <a:t>.</a:t>
            </a:r>
          </a:p>
          <a:p>
            <a:pPr marL="0" indent="0">
              <a:buNone/>
            </a:pP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9324" y="2857621"/>
            <a:ext cx="7212676" cy="400037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979324" cy="6858000"/>
          </a:xfrm>
          <a:prstGeom prst="rect">
            <a:avLst/>
          </a:prstGeom>
        </p:spPr>
      </p:pic>
    </p:spTree>
    <p:extLst>
      <p:ext uri="{BB962C8B-B14F-4D97-AF65-F5344CB8AC3E}">
        <p14:creationId xmlns:p14="http://schemas.microsoft.com/office/powerpoint/2010/main" val="42600093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0406" y="182880"/>
            <a:ext cx="9717579" cy="4087784"/>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0406" y="4352059"/>
            <a:ext cx="3848794" cy="192405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6983" y="4352059"/>
            <a:ext cx="5241001" cy="1924050"/>
          </a:xfrm>
          <a:prstGeom prst="rect">
            <a:avLst/>
          </a:prstGeom>
        </p:spPr>
      </p:pic>
    </p:spTree>
    <p:extLst>
      <p:ext uri="{BB962C8B-B14F-4D97-AF65-F5344CB8AC3E}">
        <p14:creationId xmlns:p14="http://schemas.microsoft.com/office/powerpoint/2010/main" val="2821798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189" y="83126"/>
            <a:ext cx="12070080" cy="390698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88" y="4131424"/>
            <a:ext cx="7464829" cy="264344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1579935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 name="Content Placeholder 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7999"/>
          </a:xfrm>
        </p:spPr>
      </p:pic>
    </p:spTree>
    <p:extLst>
      <p:ext uri="{BB962C8B-B14F-4D97-AF65-F5344CB8AC3E}">
        <p14:creationId xmlns:p14="http://schemas.microsoft.com/office/powerpoint/2010/main" val="31449913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646</TotalTime>
  <Words>585</Words>
  <Application>Microsoft Office PowerPoint</Application>
  <PresentationFormat>Widescreen</PresentationFormat>
  <Paragraphs>46</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Cambria Math</vt:lpstr>
      <vt:lpstr>Times New Roman</vt:lpstr>
      <vt:lpstr>Wingdings</vt:lpstr>
      <vt:lpstr>Office Theme</vt:lpstr>
      <vt:lpstr>Regression Algorithm</vt:lpstr>
      <vt:lpstr>Introduction</vt:lpstr>
      <vt:lpstr>Hypothesis</vt:lpstr>
      <vt:lpstr>Cost Function</vt:lpstr>
      <vt:lpstr>Types of Cost function</vt:lpstr>
      <vt:lpstr>Gradient Descent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Regression Algorithm</dc:title>
  <dc:creator>عبد الرحمن سيد على محمد</dc:creator>
  <cp:lastModifiedBy>عبد الرحمن سيد على محمد</cp:lastModifiedBy>
  <cp:revision>26</cp:revision>
  <dcterms:created xsi:type="dcterms:W3CDTF">2021-04-12T14:31:49Z</dcterms:created>
  <dcterms:modified xsi:type="dcterms:W3CDTF">2021-04-13T01:18:44Z</dcterms:modified>
</cp:coreProperties>
</file>